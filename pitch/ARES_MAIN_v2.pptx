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13"/>
    <p:restoredTop sz="94675"/>
  </p:normalViewPr>
  <p:slideViewPr>
    <p:cSldViewPr snapToGrid="0" snapToObjects="1">
      <p:cViewPr>
        <p:scale>
          <a:sx n="109" d="100"/>
          <a:sy n="109" d="100"/>
        </p:scale>
        <p:origin x="584" y="4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1160" cy="2076450"/>
          </a:xfrm>
        </p:spPr>
        <p:txBody>
          <a:bodyPr/>
          <a:lstStyle/>
          <a:p>
            <a:r>
              <a:rPr lang="en-US" sz="33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308067"/>
            <a:ext cx="5924550" cy="445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26177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 deployable AI-powered autonomous drone that aids search-and-rescue operations by detecting people and hazards, thereby improving responder safety and reducing victim discovery time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Theme – Robotics and Drones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ARES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91440"/>
            <a:ext cx="7955279" cy="96012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 DRONE THAT DECIDES WHERE TO LOOK NEXT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7754E3-BD0D-ACF6-BB08-3428B3CE5FA8}"/>
              </a:ext>
            </a:extLst>
          </p:cNvPr>
          <p:cNvSpPr/>
          <p:nvPr/>
        </p:nvSpPr>
        <p:spPr>
          <a:xfrm>
            <a:off x="492162" y="1342297"/>
            <a:ext cx="4989993" cy="25193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3D465-27EB-E810-B907-8967F6E17440}"/>
              </a:ext>
            </a:extLst>
          </p:cNvPr>
          <p:cNvSpPr/>
          <p:nvPr/>
        </p:nvSpPr>
        <p:spPr>
          <a:xfrm>
            <a:off x="5647766" y="1347646"/>
            <a:ext cx="5809128" cy="25139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5E3F78-C9F4-67B5-85C4-CE92D85F95C4}"/>
              </a:ext>
            </a:extLst>
          </p:cNvPr>
          <p:cNvSpPr/>
          <p:nvPr/>
        </p:nvSpPr>
        <p:spPr>
          <a:xfrm>
            <a:off x="5647766" y="3967495"/>
            <a:ext cx="5809128" cy="24663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D30F71-3E1A-5F56-5E24-BA3159E1F765}"/>
              </a:ext>
            </a:extLst>
          </p:cNvPr>
          <p:cNvSpPr txBox="1"/>
          <p:nvPr/>
        </p:nvSpPr>
        <p:spPr>
          <a:xfrm>
            <a:off x="554020" y="1395246"/>
            <a:ext cx="4141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IDEA/SOLUTION: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817388-3B2F-CC9C-5F70-B411D4AC4809}"/>
              </a:ext>
            </a:extLst>
          </p:cNvPr>
          <p:cNvSpPr txBox="1"/>
          <p:nvPr/>
        </p:nvSpPr>
        <p:spPr>
          <a:xfrm>
            <a:off x="5680858" y="1441412"/>
            <a:ext cx="267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Problem Resolution: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705854-F7F9-AF79-5673-3431B793BF7E}"/>
              </a:ext>
            </a:extLst>
          </p:cNvPr>
          <p:cNvSpPr txBox="1"/>
          <p:nvPr/>
        </p:nvSpPr>
        <p:spPr>
          <a:xfrm>
            <a:off x="5749060" y="4020963"/>
            <a:ext cx="3334870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Unique Value Propositions:</a:t>
            </a:r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D31D0457-C297-B483-B637-7D3D3B9982C3}"/>
              </a:ext>
            </a:extLst>
          </p:cNvPr>
          <p:cNvSpPr txBox="1"/>
          <p:nvPr/>
        </p:nvSpPr>
        <p:spPr>
          <a:xfrm>
            <a:off x="554018" y="1988303"/>
            <a:ext cx="4866279" cy="182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The problem: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After an earthquake or flood, the first hours decide who survives. Search teams fly fixed patterns a lawnmower grid that treats every square metre as equally likely to hold someone. It is not.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5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it matters: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Survival odds fall sharply with every hour under rubble. Time over empty ground is time taken from ground that holds someone.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5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Our idea: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 UAV that treats search as a decision, not coverage. Onboard AI finds survivors, ranks them, and re-plans its own path in the air with the radio switched off.</a:t>
            </a:r>
            <a:endParaRPr lang="en-US" sz="1200" dirty="0">
              <a:latin typeface="+mn-lt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0E3B239-D26B-160D-6B67-011149398623}"/>
              </a:ext>
            </a:extLst>
          </p:cNvPr>
          <p:cNvSpPr txBox="1"/>
          <p:nvPr/>
        </p:nvSpPr>
        <p:spPr>
          <a:xfrm>
            <a:off x="5830644" y="2002382"/>
            <a:ext cx="5534041" cy="1740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A UAV that decides where to look next, instead of covering ground in a fixed order.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Onboard AI detects survivors in RGB and thermal, counts each person once, places them on a map and ranks them by rescue priority.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A belief map of where people are likely to be is updated every time the drone looks somewhere — and the planner flies to whichever cell is worth the most per second of flight.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It re-plans its own path in the air, with the radio switched off.</a:t>
            </a:r>
            <a:endParaRPr lang="en-US" sz="1200" dirty="0">
              <a:latin typeface="+mn-lt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9100BAD8-CD5A-58D6-0C4F-FAAF90A041B7}"/>
              </a:ext>
            </a:extLst>
          </p:cNvPr>
          <p:cNvSpPr txBox="1"/>
          <p:nvPr/>
        </p:nvSpPr>
        <p:spPr>
          <a:xfrm>
            <a:off x="5830644" y="4464424"/>
            <a:ext cx="5383217" cy="163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Search as a decision, not coverage.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Priority changes the order of the search, not just the report at the end.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Nothing waits on a radio.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Every decision is made on the aircraft; the link carries information out, not commands in.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Explainable ranking.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 transparent weighted formula an officer can read — not a black box.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Honest scope.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We label what is measured, what is simulated, and what is only described.</a:t>
            </a:r>
            <a:endParaRPr lang="en-US" sz="1200" dirty="0">
              <a:latin typeface="+mn-lt"/>
            </a:endParaRPr>
          </a:p>
        </p:txBody>
      </p:sp>
      <p:pic>
        <p:nvPicPr>
          <p:cNvPr id="15362" name="Picture 15361" descr="s2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86784"/>
            <a:ext cx="5202936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71730" y="6374641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706367" y="6586946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9734D802-391D-7F5B-9EDE-4698DCE7516B}"/>
              </a:ext>
            </a:extLst>
          </p:cNvPr>
          <p:cNvSpPr/>
          <p:nvPr/>
        </p:nvSpPr>
        <p:spPr>
          <a:xfrm>
            <a:off x="7121107" y="1483139"/>
            <a:ext cx="4874481" cy="38020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 1" descr="img/arch_diagram.png">
            <a:extLst>
              <a:ext uri="{FF2B5EF4-FFF2-40B4-BE49-F238E27FC236}">
                <a16:creationId xmlns:a16="http://schemas.microsoft.com/office/drawing/2014/main" id="{C535AB93-81AE-F910-7257-4781C4A8C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1395246"/>
            <a:ext cx="6673928" cy="3806949"/>
          </a:xfrm>
          <a:prstGeom prst="rect">
            <a:avLst/>
          </a:prstGeom>
        </p:spPr>
      </p:pic>
      <p:sp>
        <p:nvSpPr>
          <p:cNvPr id="5" name="Text 29">
            <a:extLst>
              <a:ext uri="{FF2B5EF4-FFF2-40B4-BE49-F238E27FC236}">
                <a16:creationId xmlns:a16="http://schemas.microsoft.com/office/drawing/2014/main" id="{16AAC9B6-D4A2-358E-EC6B-F47FEE57334C}"/>
              </a:ext>
            </a:extLst>
          </p:cNvPr>
          <p:cNvSpPr txBox="1"/>
          <p:nvPr/>
        </p:nvSpPr>
        <p:spPr>
          <a:xfrm>
            <a:off x="7233919" y="1946941"/>
            <a:ext cx="4761669" cy="325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The models.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YOLO, one person class — C2A + VisDrone for RGB, HIT-UAV for thermal.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The silicon.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Qualcomm RB3 Gen 2, INT8 on the NPU: 209.5 ms a frame, 4.8 FPS measured.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it fits.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Detection is the whole cost. Localization, priority and the planner together are 0.87% of the frame; the planner runs once per 20 s in 0.28 ms.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onboard.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60 decisions a sortie. On the ground each one is a radio round trip — 60 single points of failure.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the link is cheap.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Records, not video: ~22 kbps against ~3,000. The whole mission is 2.7 KB.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4.8 FPS is enough.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At 20 m the footprint is 23 m and takes 7.7 s to cross — the same ground appears in roughly 37 frames.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Counted once.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7,081 raw detections become 333 confirmed tracks and 23 people.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What is simulated.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Everything up to priority is measured. The planner has flown 30 simulated missions and no real ones.</a:t>
            </a:r>
            <a:endParaRPr lang="en-US" sz="12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3DDC4-14D8-35AE-228C-C6A6B08970CC}"/>
              </a:ext>
            </a:extLst>
          </p:cNvPr>
          <p:cNvSpPr txBox="1"/>
          <p:nvPr/>
        </p:nvSpPr>
        <p:spPr>
          <a:xfrm>
            <a:off x="8027624" y="1492195"/>
            <a:ext cx="267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NOT IN THE DIAGRAM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329184" y="5413248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5458968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Detection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5632704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YOLO · C2A + VisDrone · recall 0.824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14116" y="5413248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3342132" y="5458968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Thermal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342132" y="5632704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YOLOv8s · recall 0.883 · night and smoke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099048" y="5413248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6227064" y="5458968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Tracking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27064" y="5632704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ByteTrack · 7,081 detections → 23 people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983980" y="5413248"/>
            <a:ext cx="2715768" cy="420624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9111996" y="5458968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Adaptive planner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111996" y="5632704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DCE6F1"/>
                </a:solidFill>
                <a:latin typeface="Calibri"/>
              </a:rPr>
              <a:t>Bayesian belief map · 0.28 ms per decision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29184" y="5897880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457200" y="5943600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Edge compute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57200" y="6117336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Qualcomm RB3 Gen 2 · INT8 · 4.8 FPS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214116" y="5897880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3342132" y="5943600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Flight stack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342132" y="6117336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Pixhawk-class · ArduPilot · MAVLink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099048" y="5897880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6227064" y="5943600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Backend / Frontend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227064" y="6117336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FastAPI · React · Leaflet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8983980" y="5897880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9111996" y="5943600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Downlink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111996" y="6117336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865–868 MHz · licence-exempt in India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58952" y="1914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FB09B0A8-35B6-FAD5-2E32-97F85D6264CF}"/>
              </a:ext>
            </a:extLst>
          </p:cNvPr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5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56DADC99-F1CD-F1D3-D008-7CB7D57E0B34}"/>
              </a:ext>
            </a:extLst>
          </p:cNvPr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pic>
        <p:nvPicPr>
          <p:cNvPr id="17420" name="Picture 17419">
            <a:extLst>
              <a:ext uri="{FF2B5EF4-FFF2-40B4-BE49-F238E27FC236}">
                <a16:creationId xmlns:a16="http://schemas.microsoft.com/office/drawing/2014/main" id="{AFA8DD82-17AF-D1EB-62D5-508DBACC6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7" y="1455821"/>
            <a:ext cx="4876800" cy="3251200"/>
          </a:xfrm>
          <a:prstGeom prst="rect">
            <a:avLst/>
          </a:prstGeom>
        </p:spPr>
      </p:pic>
      <p:sp>
        <p:nvSpPr>
          <p:cNvPr id="17425" name="Shape 40">
            <a:extLst>
              <a:ext uri="{FF2B5EF4-FFF2-40B4-BE49-F238E27FC236}">
                <a16:creationId xmlns:a16="http://schemas.microsoft.com/office/drawing/2014/main" id="{78AB64EE-8786-2AA4-C05C-A3E12C0F4938}"/>
              </a:ext>
            </a:extLst>
          </p:cNvPr>
          <p:cNvSpPr/>
          <p:nvPr/>
        </p:nvSpPr>
        <p:spPr>
          <a:xfrm>
            <a:off x="5691147" y="1253759"/>
            <a:ext cx="3046453" cy="3574661"/>
          </a:xfrm>
          <a:prstGeom prst="roundRect">
            <a:avLst>
              <a:gd name="adj" fmla="val 1714"/>
            </a:avLst>
          </a:prstGeom>
          <a:solidFill>
            <a:schemeClr val="bg1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17426" name="Text 41">
            <a:extLst>
              <a:ext uri="{FF2B5EF4-FFF2-40B4-BE49-F238E27FC236}">
                <a16:creationId xmlns:a16="http://schemas.microsoft.com/office/drawing/2014/main" id="{049ADB94-4370-BC55-0CA8-1257B6129C9F}"/>
              </a:ext>
            </a:extLst>
          </p:cNvPr>
          <p:cNvSpPr txBox="1"/>
          <p:nvPr/>
        </p:nvSpPr>
        <p:spPr>
          <a:xfrm>
            <a:off x="5874027" y="1381775"/>
            <a:ext cx="2698287" cy="213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" dirty="0">
                <a:solidFill>
                  <a:schemeClr val="accent1">
                    <a:lumMod val="75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 STACK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27" name="Text 42">
            <a:extLst>
              <a:ext uri="{FF2B5EF4-FFF2-40B4-BE49-F238E27FC236}">
                <a16:creationId xmlns:a16="http://schemas.microsoft.com/office/drawing/2014/main" id="{7DF6766B-E0BA-8209-62FB-847F4A05FE9F}"/>
              </a:ext>
            </a:extLst>
          </p:cNvPr>
          <p:cNvSpPr txBox="1"/>
          <p:nvPr/>
        </p:nvSpPr>
        <p:spPr>
          <a:xfrm>
            <a:off x="5874027" y="16926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· tracking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28" name="Text 43">
            <a:extLst>
              <a:ext uri="{FF2B5EF4-FFF2-40B4-BE49-F238E27FC236}">
                <a16:creationId xmlns:a16="http://schemas.microsoft.com/office/drawing/2014/main" id="{5B10C9AC-3F67-CBC0-3582-C00EB04E1DD6}"/>
              </a:ext>
            </a:extLst>
          </p:cNvPr>
          <p:cNvSpPr txBox="1"/>
          <p:nvPr/>
        </p:nvSpPr>
        <p:spPr>
          <a:xfrm>
            <a:off x="5874027" y="18572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 YOLO + ByteTrack</a:t>
            </a:r>
            <a:endParaRPr lang="en-US" sz="850" dirty="0"/>
          </a:p>
        </p:txBody>
      </p:sp>
      <p:sp>
        <p:nvSpPr>
          <p:cNvPr id="17429" name="Text 44">
            <a:extLst>
              <a:ext uri="{FF2B5EF4-FFF2-40B4-BE49-F238E27FC236}">
                <a16:creationId xmlns:a16="http://schemas.microsoft.com/office/drawing/2014/main" id="{71E26771-8C3F-B0E2-0074-880A06A820CE}"/>
              </a:ext>
            </a:extLst>
          </p:cNvPr>
          <p:cNvSpPr txBox="1"/>
          <p:nvPr/>
        </p:nvSpPr>
        <p:spPr>
          <a:xfrm>
            <a:off x="7977147" y="18572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AGPL-3.0</a:t>
            </a:r>
            <a:endParaRPr lang="en-US" sz="750" dirty="0"/>
          </a:p>
        </p:txBody>
      </p:sp>
      <p:sp>
        <p:nvSpPr>
          <p:cNvPr id="17430" name="Text 45">
            <a:extLst>
              <a:ext uri="{FF2B5EF4-FFF2-40B4-BE49-F238E27FC236}">
                <a16:creationId xmlns:a16="http://schemas.microsoft.com/office/drawing/2014/main" id="{27A0CDF7-AC56-CDB4-591E-172674E86FA6}"/>
              </a:ext>
            </a:extLst>
          </p:cNvPr>
          <p:cNvSpPr txBox="1"/>
          <p:nvPr/>
        </p:nvSpPr>
        <p:spPr>
          <a:xfrm>
            <a:off x="5874027" y="21498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stack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31" name="Text 46">
            <a:extLst>
              <a:ext uri="{FF2B5EF4-FFF2-40B4-BE49-F238E27FC236}">
                <a16:creationId xmlns:a16="http://schemas.microsoft.com/office/drawing/2014/main" id="{0B0A27FA-86DF-1D42-C228-B036EB1EC3C4}"/>
              </a:ext>
            </a:extLst>
          </p:cNvPr>
          <p:cNvSpPr txBox="1"/>
          <p:nvPr/>
        </p:nvSpPr>
        <p:spPr>
          <a:xfrm>
            <a:off x="5874027" y="23144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ArduPilot over MAVLink</a:t>
            </a:r>
            <a:endParaRPr lang="en-US" sz="850" dirty="0"/>
          </a:p>
        </p:txBody>
      </p:sp>
      <p:sp>
        <p:nvSpPr>
          <p:cNvPr id="17432" name="Text 47">
            <a:extLst>
              <a:ext uri="{FF2B5EF4-FFF2-40B4-BE49-F238E27FC236}">
                <a16:creationId xmlns:a16="http://schemas.microsoft.com/office/drawing/2014/main" id="{2578F121-968E-A001-3C66-D98CB7D71CC7}"/>
              </a:ext>
            </a:extLst>
          </p:cNvPr>
          <p:cNvSpPr txBox="1"/>
          <p:nvPr/>
        </p:nvSpPr>
        <p:spPr>
          <a:xfrm>
            <a:off x="7977147" y="23144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GPL-3.0</a:t>
            </a:r>
            <a:endParaRPr lang="en-US" sz="750" dirty="0"/>
          </a:p>
        </p:txBody>
      </p:sp>
      <p:sp>
        <p:nvSpPr>
          <p:cNvPr id="17433" name="Text 48">
            <a:extLst>
              <a:ext uri="{FF2B5EF4-FFF2-40B4-BE49-F238E27FC236}">
                <a16:creationId xmlns:a16="http://schemas.microsoft.com/office/drawing/2014/main" id="{3942BAC3-D56C-508D-1BBD-9088CDA41457}"/>
              </a:ext>
            </a:extLst>
          </p:cNvPr>
          <p:cNvSpPr txBox="1"/>
          <p:nvPr/>
        </p:nvSpPr>
        <p:spPr>
          <a:xfrm>
            <a:off x="5874027" y="26070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34" name="Text 49">
            <a:extLst>
              <a:ext uri="{FF2B5EF4-FFF2-40B4-BE49-F238E27FC236}">
                <a16:creationId xmlns:a16="http://schemas.microsoft.com/office/drawing/2014/main" id="{66C7978A-D5FE-5860-81A6-9F81F8A9C1CB}"/>
              </a:ext>
            </a:extLst>
          </p:cNvPr>
          <p:cNvSpPr txBox="1"/>
          <p:nvPr/>
        </p:nvSpPr>
        <p:spPr>
          <a:xfrm>
            <a:off x="5874027" y="27716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850" dirty="0"/>
          </a:p>
        </p:txBody>
      </p:sp>
      <p:sp>
        <p:nvSpPr>
          <p:cNvPr id="17435" name="Text 50">
            <a:extLst>
              <a:ext uri="{FF2B5EF4-FFF2-40B4-BE49-F238E27FC236}">
                <a16:creationId xmlns:a16="http://schemas.microsoft.com/office/drawing/2014/main" id="{AF813A6C-B492-2DD1-FE42-C544447C90F6}"/>
              </a:ext>
            </a:extLst>
          </p:cNvPr>
          <p:cNvSpPr txBox="1"/>
          <p:nvPr/>
        </p:nvSpPr>
        <p:spPr>
          <a:xfrm>
            <a:off x="7977147" y="27716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750" dirty="0"/>
          </a:p>
        </p:txBody>
      </p:sp>
      <p:sp>
        <p:nvSpPr>
          <p:cNvPr id="17436" name="Text 51">
            <a:extLst>
              <a:ext uri="{FF2B5EF4-FFF2-40B4-BE49-F238E27FC236}">
                <a16:creationId xmlns:a16="http://schemas.microsoft.com/office/drawing/2014/main" id="{E39C0996-C595-781B-D922-185267130723}"/>
              </a:ext>
            </a:extLst>
          </p:cNvPr>
          <p:cNvSpPr txBox="1"/>
          <p:nvPr/>
        </p:nvSpPr>
        <p:spPr>
          <a:xfrm>
            <a:off x="5874027" y="30642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37" name="Text 52">
            <a:extLst>
              <a:ext uri="{FF2B5EF4-FFF2-40B4-BE49-F238E27FC236}">
                <a16:creationId xmlns:a16="http://schemas.microsoft.com/office/drawing/2014/main" id="{9C681BD8-4E1A-0C38-0C72-6F32841AE620}"/>
              </a:ext>
            </a:extLst>
          </p:cNvPr>
          <p:cNvSpPr txBox="1"/>
          <p:nvPr/>
        </p:nvSpPr>
        <p:spPr>
          <a:xfrm>
            <a:off x="5874027" y="32288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Tailwind · Leaflet</a:t>
            </a:r>
            <a:endParaRPr lang="en-US" sz="850" dirty="0"/>
          </a:p>
        </p:txBody>
      </p:sp>
      <p:sp>
        <p:nvSpPr>
          <p:cNvPr id="17438" name="Text 53">
            <a:extLst>
              <a:ext uri="{FF2B5EF4-FFF2-40B4-BE49-F238E27FC236}">
                <a16:creationId xmlns:a16="http://schemas.microsoft.com/office/drawing/2014/main" id="{FB0083B2-A090-BA15-45F0-3C1395A1105B}"/>
              </a:ext>
            </a:extLst>
          </p:cNvPr>
          <p:cNvSpPr txBox="1"/>
          <p:nvPr/>
        </p:nvSpPr>
        <p:spPr>
          <a:xfrm>
            <a:off x="7977147" y="32288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/ BSD</a:t>
            </a:r>
            <a:endParaRPr lang="en-US" sz="750" dirty="0"/>
          </a:p>
        </p:txBody>
      </p:sp>
      <p:sp>
        <p:nvSpPr>
          <p:cNvPr id="17439" name="Text 54">
            <a:extLst>
              <a:ext uri="{FF2B5EF4-FFF2-40B4-BE49-F238E27FC236}">
                <a16:creationId xmlns:a16="http://schemas.microsoft.com/office/drawing/2014/main" id="{A444D668-176F-286F-5D49-92300E388B76}"/>
              </a:ext>
            </a:extLst>
          </p:cNvPr>
          <p:cNvSpPr txBox="1"/>
          <p:nvPr/>
        </p:nvSpPr>
        <p:spPr>
          <a:xfrm>
            <a:off x="5874027" y="35214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40" name="Text 55">
            <a:extLst>
              <a:ext uri="{FF2B5EF4-FFF2-40B4-BE49-F238E27FC236}">
                <a16:creationId xmlns:a16="http://schemas.microsoft.com/office/drawing/2014/main" id="{F5806911-D739-B36B-410F-D224545D51F9}"/>
              </a:ext>
            </a:extLst>
          </p:cNvPr>
          <p:cNvSpPr txBox="1"/>
          <p:nvPr/>
        </p:nvSpPr>
        <p:spPr>
          <a:xfrm>
            <a:off x="5874027" y="36860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tiles</a:t>
            </a:r>
            <a:endParaRPr lang="en-US" sz="850" dirty="0"/>
          </a:p>
        </p:txBody>
      </p:sp>
      <p:sp>
        <p:nvSpPr>
          <p:cNvPr id="17441" name="Text 56">
            <a:extLst>
              <a:ext uri="{FF2B5EF4-FFF2-40B4-BE49-F238E27FC236}">
                <a16:creationId xmlns:a16="http://schemas.microsoft.com/office/drawing/2014/main" id="{4110E822-9926-2920-1261-2E476137C4F6}"/>
              </a:ext>
            </a:extLst>
          </p:cNvPr>
          <p:cNvSpPr txBox="1"/>
          <p:nvPr/>
        </p:nvSpPr>
        <p:spPr>
          <a:xfrm>
            <a:off x="7977147" y="36860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key</a:t>
            </a:r>
            <a:endParaRPr lang="en-US" sz="750" dirty="0"/>
          </a:p>
        </p:txBody>
      </p:sp>
      <p:sp>
        <p:nvSpPr>
          <p:cNvPr id="17442" name="Text 57">
            <a:extLst>
              <a:ext uri="{FF2B5EF4-FFF2-40B4-BE49-F238E27FC236}">
                <a16:creationId xmlns:a16="http://schemas.microsoft.com/office/drawing/2014/main" id="{FBA80237-08EC-F05B-7790-A518A7F98976}"/>
              </a:ext>
            </a:extLst>
          </p:cNvPr>
          <p:cNvSpPr txBox="1"/>
          <p:nvPr/>
        </p:nvSpPr>
        <p:spPr>
          <a:xfrm>
            <a:off x="5874027" y="39786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Quantisation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43" name="Text 58">
            <a:extLst>
              <a:ext uri="{FF2B5EF4-FFF2-40B4-BE49-F238E27FC236}">
                <a16:creationId xmlns:a16="http://schemas.microsoft.com/office/drawing/2014/main" id="{86EBE8DF-0730-4D84-A364-DBA1C60A5267}"/>
              </a:ext>
            </a:extLst>
          </p:cNvPr>
          <p:cNvSpPr txBox="1"/>
          <p:nvPr/>
        </p:nvSpPr>
        <p:spPr>
          <a:xfrm>
            <a:off x="5874027" y="41432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AI Hub · INT8</a:t>
            </a:r>
            <a:endParaRPr lang="en-US" sz="850" dirty="0"/>
          </a:p>
        </p:txBody>
      </p:sp>
      <p:sp>
        <p:nvSpPr>
          <p:cNvPr id="17444" name="Text 59">
            <a:extLst>
              <a:ext uri="{FF2B5EF4-FFF2-40B4-BE49-F238E27FC236}">
                <a16:creationId xmlns:a16="http://schemas.microsoft.com/office/drawing/2014/main" id="{DEADCC17-8DD1-9F3F-18A6-43CF2E77FDE6}"/>
              </a:ext>
            </a:extLst>
          </p:cNvPr>
          <p:cNvSpPr txBox="1"/>
          <p:nvPr/>
        </p:nvSpPr>
        <p:spPr>
          <a:xfrm>
            <a:off x="7977147" y="41432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750" dirty="0"/>
          </a:p>
        </p:txBody>
      </p:sp>
      <p:sp>
        <p:nvSpPr>
          <p:cNvPr id="17445" name="Shape 60">
            <a:extLst>
              <a:ext uri="{FF2B5EF4-FFF2-40B4-BE49-F238E27FC236}">
                <a16:creationId xmlns:a16="http://schemas.microsoft.com/office/drawing/2014/main" id="{1888A01F-7604-D531-F0C9-ABA50F3BD31A}"/>
              </a:ext>
            </a:extLst>
          </p:cNvPr>
          <p:cNvSpPr/>
          <p:nvPr/>
        </p:nvSpPr>
        <p:spPr>
          <a:xfrm>
            <a:off x="5874027" y="4413297"/>
            <a:ext cx="2698287" cy="328704"/>
          </a:xfrm>
          <a:prstGeom prst="roundRect">
            <a:avLst>
              <a:gd name="adj" fmla="val 15000"/>
            </a:avLst>
          </a:prstGeom>
          <a:solidFill>
            <a:srgbClr val="DCE6F1"/>
          </a:solidFill>
          <a:ln w="9525">
            <a:solidFill>
              <a:srgbClr val="1F497D"/>
            </a:solidFill>
            <a:prstDash val="solid"/>
          </a:ln>
        </p:spPr>
      </p:sp>
      <p:sp>
        <p:nvSpPr>
          <p:cNvPr id="17446" name="Text 61">
            <a:extLst>
              <a:ext uri="{FF2B5EF4-FFF2-40B4-BE49-F238E27FC236}">
                <a16:creationId xmlns:a16="http://schemas.microsoft.com/office/drawing/2014/main" id="{18EA82DE-EF82-C3DC-BF99-6A6FD0A83F41}"/>
              </a:ext>
            </a:extLst>
          </p:cNvPr>
          <p:cNvSpPr txBox="1"/>
          <p:nvPr/>
        </p:nvSpPr>
        <p:spPr>
          <a:xfrm>
            <a:off x="5961068" y="4484050"/>
            <a:ext cx="2524204" cy="19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cost: zero.</a:t>
            </a:r>
            <a:endParaRPr lang="en-US" sz="950" dirty="0"/>
          </a:p>
        </p:txBody>
      </p:sp>
      <p:sp>
        <p:nvSpPr>
          <p:cNvPr id="17447" name="Text 62">
            <a:extLst>
              <a:ext uri="{FF2B5EF4-FFF2-40B4-BE49-F238E27FC236}">
                <a16:creationId xmlns:a16="http://schemas.microsoft.com/office/drawing/2014/main" id="{B2EE1439-9C77-42C9-29F8-98D37B36CC06}"/>
              </a:ext>
            </a:extLst>
          </p:cNvPr>
          <p:cNvSpPr txBox="1"/>
          <p:nvPr/>
        </p:nvSpPr>
        <p:spPr>
          <a:xfrm>
            <a:off x="5874027" y="4911359"/>
            <a:ext cx="2698287" cy="26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7448" name="Shape 63">
            <a:extLst>
              <a:ext uri="{FF2B5EF4-FFF2-40B4-BE49-F238E27FC236}">
                <a16:creationId xmlns:a16="http://schemas.microsoft.com/office/drawing/2014/main" id="{27D00DE2-875F-BB8D-4B7E-C81A11C44467}"/>
              </a:ext>
            </a:extLst>
          </p:cNvPr>
          <p:cNvSpPr/>
          <p:nvPr/>
        </p:nvSpPr>
        <p:spPr>
          <a:xfrm>
            <a:off x="8827116" y="1253759"/>
            <a:ext cx="3333815" cy="3574661"/>
          </a:xfrm>
          <a:prstGeom prst="roundRect">
            <a:avLst>
              <a:gd name="adj" fmla="val 1500"/>
            </a:avLst>
          </a:prstGeom>
          <a:noFill/>
          <a:ln w="9525">
            <a:solidFill>
              <a:srgbClr val="D9D4D1"/>
            </a:solidFill>
            <a:prstDash val="solid"/>
          </a:ln>
        </p:spPr>
      </p:sp>
      <p:sp>
        <p:nvSpPr>
          <p:cNvPr id="17449" name="Text 64">
            <a:extLst>
              <a:ext uri="{FF2B5EF4-FFF2-40B4-BE49-F238E27FC236}">
                <a16:creationId xmlns:a16="http://schemas.microsoft.com/office/drawing/2014/main" id="{A7CEACE1-4629-1D0C-B1FF-8F67F0B921F0}"/>
              </a:ext>
            </a:extLst>
          </p:cNvPr>
          <p:cNvSpPr txBox="1"/>
          <p:nvPr/>
        </p:nvSpPr>
        <p:spPr>
          <a:xfrm>
            <a:off x="9009997" y="1381775"/>
            <a:ext cx="3000434" cy="213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" dirty="0">
                <a:solidFill>
                  <a:schemeClr val="accent1">
                    <a:lumMod val="75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IT VIABLE IN THE FIELD?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50" name="Text 65">
            <a:extLst>
              <a:ext uri="{FF2B5EF4-FFF2-40B4-BE49-F238E27FC236}">
                <a16:creationId xmlns:a16="http://schemas.microsoft.com/office/drawing/2014/main" id="{950AFF14-8ED1-DA2A-664A-2ECA8E93018D}"/>
              </a:ext>
            </a:extLst>
          </p:cNvPr>
          <p:cNvSpPr txBox="1"/>
          <p:nvPr/>
        </p:nvSpPr>
        <p:spPr>
          <a:xfrm>
            <a:off x="9009997" y="1710959"/>
            <a:ext cx="3000434" cy="3040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0.14 km² per sortie.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 23.3 m swath at 20 m altitude, 5 m/s, twenty minutes. Two sorties cover a village block.</a:t>
            </a:r>
            <a:endParaRPr lang="en-US" sz="11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DGCA Micro class.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At ~1.4 kg it stays under the 2 kg ceiling: registration and a remote pilot certificate, no type certification.</a:t>
            </a:r>
            <a:endParaRPr lang="en-US" sz="11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No infrastructure.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No tower, no internet, no ground station needed to fly. The link is optional by design.</a:t>
            </a:r>
            <a:endParaRPr lang="en-US" sz="11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One operator, one backpack.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Under 2 kg all-up, assembled in minutes, launched from any clear ground.</a:t>
            </a:r>
            <a:endParaRPr lang="en-US" sz="11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Endurance is the real constraint.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Holybro rates this airframe at ~18 min hover unloaded on 5 Ah; our payload cuts into that. A larger battery buys time but pushes takeoff weight past 2 kg into DGCA Small.</a:t>
            </a:r>
            <a:endParaRPr lang="en-US" sz="1100" dirty="0">
              <a:latin typeface="+mn-lt"/>
            </a:endParaRPr>
          </a:p>
        </p:txBody>
      </p:sp>
      <p:sp>
        <p:nvSpPr>
          <p:cNvPr id="17451" name="TextBox 17450"/>
          <p:cNvSpPr txBox="1"/>
          <p:nvPr/>
        </p:nvSpPr>
        <p:spPr>
          <a:xfrm>
            <a:off x="329184" y="4773168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5A6478"/>
                </a:solidFill>
                <a:latin typeface="Calibri"/>
              </a:rPr>
              <a:t>ONE FRAME BECOMES ONE DECISION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329184" y="5120640"/>
            <a:ext cx="914400" cy="868680"/>
          </a:xfrm>
          <a:prstGeom prst="roundRect">
            <a:avLst/>
          </a:prstGeom>
          <a:solidFill>
            <a:srgbClr val="DCE6F1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1A1F2B"/>
                </a:solidFill>
                <a:latin typeface="Calibri"/>
              </a:rPr>
              <a:t>frames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3291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raw video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1357884" y="5257800"/>
            <a:ext cx="914400" cy="731520"/>
          </a:xfrm>
          <a:prstGeom prst="roundRect">
            <a:avLst/>
          </a:prstGeom>
          <a:solidFill>
            <a:srgbClr val="B8CCE4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1A1F2B"/>
                </a:solidFill>
                <a:latin typeface="Calibri"/>
              </a:rPr>
              <a:t>7,081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13578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detections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2386584" y="5404104"/>
            <a:ext cx="914400" cy="585216"/>
          </a:xfrm>
          <a:prstGeom prst="roundRect">
            <a:avLst/>
          </a:prstGeom>
          <a:solidFill>
            <a:srgbClr val="4F81BD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333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23865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confirmed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3415284" y="5550408"/>
            <a:ext cx="914400" cy="438912"/>
          </a:xfrm>
          <a:prstGeom prst="roundRect">
            <a:avLst/>
          </a:prstGeom>
          <a:solidFill>
            <a:srgbClr val="1F497D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34152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people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4443984" y="5678424"/>
            <a:ext cx="914400" cy="310896"/>
          </a:xfrm>
          <a:prstGeom prst="roundRect">
            <a:avLst/>
          </a:prstGeom>
          <a:solidFill>
            <a:srgbClr val="122E52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44439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target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329184" y="6254496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478"/>
                </a:solidFill>
                <a:latin typeface="Calibri"/>
              </a:rPr>
              <a:t>The narrowing is the argument: each person is counted once.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5760720" y="4919472"/>
            <a:ext cx="5943600" cy="512064"/>
          </a:xfrm>
          <a:prstGeom prst="roundRect">
            <a:avLst/>
          </a:prstGeom>
          <a:solidFill>
            <a:srgbClr val="DCE6F1"/>
          </a:solidFill>
          <a:ln w="95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64" name="TextBox 17463"/>
          <p:cNvSpPr txBox="1"/>
          <p:nvPr/>
        </p:nvSpPr>
        <p:spPr>
          <a:xfrm>
            <a:off x="5925312" y="4992624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F497D"/>
                </a:solidFill>
                <a:latin typeface="Calibri"/>
              </a:rPr>
              <a:t>~1.4 kg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7360920" y="500176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5A6478"/>
                </a:solidFill>
                <a:latin typeface="Calibri"/>
              </a:rPr>
              <a:t>all-up takeoff weight — inside DGCA's Micro class, under the 2 kg ceiling. Registration and a remote pilot certificate; no type certification.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5760720" y="5504688"/>
            <a:ext cx="5943600" cy="786384"/>
          </a:xfrm>
          <a:prstGeom prst="roundRect">
            <a:avLst/>
          </a:prstGeom>
          <a:solidFill>
            <a:srgbClr val="FAF3F3"/>
          </a:solidFill>
          <a:ln w="952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67" name="TextBox 17466"/>
          <p:cNvSpPr txBox="1"/>
          <p:nvPr/>
        </p:nvSpPr>
        <p:spPr>
          <a:xfrm>
            <a:off x="5925312" y="5568696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C0504D"/>
                </a:solidFill>
                <a:latin typeface="Calibri"/>
              </a:rPr>
              <a:t>WHAT THIS DOES NOT YET PROVE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5925312" y="5760720"/>
            <a:ext cx="5614416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rgbClr val="5A6478"/>
                </a:solidFill>
                <a:latin typeface="Calibri"/>
              </a:rPr>
              <a:t>No aircraft has been built — this is a specified bill of materials, not a flown platform.  The 209.5 </a:t>
            </a:r>
            <a:r>
              <a:rPr sz="900" b="0" i="0" dirty="0" err="1">
                <a:solidFill>
                  <a:srgbClr val="5A6478"/>
                </a:solidFill>
                <a:latin typeface="Calibri"/>
              </a:rPr>
              <a:t>ms</a:t>
            </a:r>
            <a:r>
              <a:rPr sz="900" b="0" i="0" dirty="0">
                <a:solidFill>
                  <a:srgbClr val="5A6478"/>
                </a:solidFill>
                <a:latin typeface="Calibri"/>
              </a:rPr>
              <a:t> benchmark ran on the RB3 dev kit on a bench supply.  RGB and thermal together measured 2.4 FPS, not 4.8.  In-flight power draw and thermal </a:t>
            </a:r>
            <a:r>
              <a:rPr sz="900" b="0" i="0" dirty="0" err="1">
                <a:solidFill>
                  <a:srgbClr val="5A6478"/>
                </a:solidFill>
                <a:latin typeface="Calibri"/>
              </a:rPr>
              <a:t>behaviour</a:t>
            </a:r>
            <a:r>
              <a:rPr sz="900" b="0" i="0" dirty="0">
                <a:solidFill>
                  <a:srgbClr val="5A6478"/>
                </a:solidFill>
                <a:latin typeface="Calibri"/>
              </a:rPr>
              <a:t> are unmeasured.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6">
            <a:extLst>
              <a:ext uri="{FF2B5EF4-FFF2-40B4-BE49-F238E27FC236}">
                <a16:creationId xmlns:a16="http://schemas.microsoft.com/office/drawing/2014/main" id="{DFDD7067-EF07-72FE-B03E-63323BE7106A}"/>
              </a:ext>
            </a:extLst>
          </p:cNvPr>
          <p:cNvSpPr txBox="1"/>
          <p:nvPr/>
        </p:nvSpPr>
        <p:spPr>
          <a:xfrm>
            <a:off x="329184" y="1188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more people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7EDBF3FC-07FA-2EB7-303E-2B08A10FE3D4}"/>
              </a:ext>
            </a:extLst>
          </p:cNvPr>
          <p:cNvSpPr txBox="1"/>
          <p:nvPr/>
        </p:nvSpPr>
        <p:spPr>
          <a:xfrm>
            <a:off x="329184" y="14264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 20 survivors against a lawnmower grid's 10.</a:t>
            </a:r>
            <a:endParaRPr lang="en-US" sz="1000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FD3DA720-EA80-CFF8-F7D2-40EEF3269E44}"/>
              </a:ext>
            </a:extLst>
          </p:cNvPr>
          <p:cNvSpPr txBox="1"/>
          <p:nvPr/>
        </p:nvSpPr>
        <p:spPr>
          <a:xfrm>
            <a:off x="329184" y="1792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them sooner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973E449B-142B-E4E0-6683-07DDF3E8AB4B}"/>
              </a:ext>
            </a:extLst>
          </p:cNvPr>
          <p:cNvSpPr txBox="1"/>
          <p:nvPr/>
        </p:nvSpPr>
        <p:spPr>
          <a:xfrm>
            <a:off x="329184" y="202996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survivors reached 3.1× faster.</a:t>
            </a:r>
            <a:endParaRPr lang="en-US" sz="10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7012F105-3000-715A-5B83-D990123FDF21}"/>
              </a:ext>
            </a:extLst>
          </p:cNvPr>
          <p:cNvSpPr txBox="1"/>
          <p:nvPr/>
        </p:nvSpPr>
        <p:spPr>
          <a:xfrm>
            <a:off x="329184" y="23957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no network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6A5FBB5B-8CF9-A629-CF1E-E819F3F13A69}"/>
              </a:ext>
            </a:extLst>
          </p:cNvPr>
          <p:cNvSpPr txBox="1"/>
          <p:nvPr/>
        </p:nvSpPr>
        <p:spPr>
          <a:xfrm>
            <a:off x="329184" y="26334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mission report is 2.7 KB.</a:t>
            </a:r>
            <a:endParaRPr lang="en-US" sz="10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CAB06BE7-6C6B-69B2-719E-C9696D91B096}"/>
              </a:ext>
            </a:extLst>
          </p:cNvPr>
          <p:cNvSpPr txBox="1"/>
          <p:nvPr/>
        </p:nvSpPr>
        <p:spPr>
          <a:xfrm>
            <a:off x="329184" y="29992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who to reach first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FDF133BD-5CBE-B35C-742E-48CBEB98C461}"/>
              </a:ext>
            </a:extLst>
          </p:cNvPr>
          <p:cNvSpPr txBox="1"/>
          <p:nvPr/>
        </p:nvSpPr>
        <p:spPr>
          <a:xfrm>
            <a:off x="329184" y="323697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Confidence, cluster size, hazard proximity.</a:t>
            </a:r>
            <a:endParaRPr lang="en-US" sz="100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671AFF9-EA12-6121-E757-1C3FE54A628B}"/>
              </a:ext>
            </a:extLst>
          </p:cNvPr>
          <p:cNvSpPr/>
          <p:nvPr/>
        </p:nvSpPr>
        <p:spPr>
          <a:xfrm>
            <a:off x="329184" y="4206240"/>
            <a:ext cx="3200400" cy="1755648"/>
          </a:xfrm>
          <a:prstGeom prst="roundRect">
            <a:avLst>
              <a:gd name="adj" fmla="val 3125"/>
            </a:avLst>
          </a:prstGeom>
          <a:solidFill>
            <a:srgbClr val="F5F7FA"/>
          </a:solidFill>
          <a:ln w="15875">
            <a:solidFill>
              <a:srgbClr val="C0504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DDDCA476-5561-B07C-D6D5-B5407E79A0A4}"/>
              </a:ext>
            </a:extLst>
          </p:cNvPr>
          <p:cNvSpPr txBox="1"/>
          <p:nvPr/>
        </p:nvSpPr>
        <p:spPr>
          <a:xfrm>
            <a:off x="603504" y="44622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50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D4  ·  TWO FLIGHT PATHS</a:t>
            </a:r>
            <a:endParaRPr lang="en-US" sz="13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40C8AB89-1496-3BFE-F488-4FDF46C8E3F1}"/>
              </a:ext>
            </a:extLst>
          </p:cNvPr>
          <p:cNvSpPr txBox="1"/>
          <p:nvPr/>
        </p:nvSpPr>
        <p:spPr>
          <a:xfrm>
            <a:off x="603504" y="47731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THIS — the brief is below</a:t>
            </a:r>
            <a:endParaRPr lang="en-US" sz="90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1ED1F980-EA87-2E49-E549-AF986F37B8AC}"/>
              </a:ext>
            </a:extLst>
          </p:cNvPr>
          <p:cNvSpPr txBox="1"/>
          <p:nvPr/>
        </p:nvSpPr>
        <p:spPr>
          <a:xfrm>
            <a:off x="603504" y="506577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map twice, identical survivor dots. Left: the grid sweeping mechanically. Right: the adaptive track bending toward clusters. Put timestamps along both — without them it is two squiggles; with them it is evidence.</a:t>
            </a:r>
            <a:endParaRPr lang="en-US" sz="105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D775D710-A3BA-BB36-14DF-939B8EFA1C76}"/>
              </a:ext>
            </a:extLst>
          </p:cNvPr>
          <p:cNvSpPr txBox="1"/>
          <p:nvPr/>
        </p:nvSpPr>
        <p:spPr>
          <a:xfrm>
            <a:off x="3840480" y="541324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 found over time — median of 30 simulated missions, good prior.</a:t>
            </a:r>
            <a:endParaRPr lang="en-US" sz="105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BE956DBD-64F9-BD81-B857-7D149AB73C4A}"/>
              </a:ext>
            </a:extLst>
          </p:cNvPr>
          <p:cNvSpPr txBox="1"/>
          <p:nvPr/>
        </p:nvSpPr>
        <p:spPr>
          <a:xfrm>
            <a:off x="3840480" y="5669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78"/>
                </a:solidFill>
                <a:latin typeface="Al Nile" pitchFamily="2" charset="-78"/>
                <a:ea typeface="Arial" pitchFamily="34" charset="-122"/>
                <a:cs typeface="Al Nile" pitchFamily="2" charset="-78"/>
              </a:rPr>
              <a:t>Simulated flight with the detector at our measured 0.824 recall. Adaptive covers 32% of the area against the grid's 56% — more people, sooner, over less ground. Never flown on hardware.</a:t>
            </a:r>
            <a:endParaRPr lang="en-US" sz="950" dirty="0">
              <a:latin typeface="Al Nile" pitchFamily="2" charset="-78"/>
              <a:cs typeface="Al Nile" pitchFamily="2" charset="-78"/>
            </a:endParaRPr>
          </a:p>
        </p:txBody>
      </p:sp>
      <p:pic>
        <p:nvPicPr>
          <p:cNvPr id="17410" name="Picture 17409" descr="d5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170432"/>
            <a:ext cx="7863840" cy="4187952"/>
          </a:xfrm>
          <a:prstGeom prst="rect">
            <a:avLst/>
          </a:prstGeom>
        </p:spPr>
      </p:pic>
      <p:pic>
        <p:nvPicPr>
          <p:cNvPr id="17411" name="Picture 17410" descr="d6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64" y="4160520"/>
            <a:ext cx="3574836" cy="263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F3C8DD12-8E78-D84A-88FA-64343C0A7CF8}"/>
              </a:ext>
            </a:extLst>
          </p:cNvPr>
          <p:cNvSpPr txBox="1"/>
          <p:nvPr/>
        </p:nvSpPr>
        <p:spPr>
          <a:xfrm>
            <a:off x="457200" y="795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D515741-D959-C8E0-8170-0F5691AEAE2D}"/>
              </a:ext>
            </a:extLst>
          </p:cNvPr>
          <p:cNvSpPr/>
          <p:nvPr/>
        </p:nvSpPr>
        <p:spPr>
          <a:xfrm>
            <a:off x="457200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C58F326-AF23-F251-4E24-083B577A69A9}"/>
              </a:ext>
            </a:extLst>
          </p:cNvPr>
          <p:cNvSpPr txBox="1"/>
          <p:nvPr/>
        </p:nvSpPr>
        <p:spPr>
          <a:xfrm>
            <a:off x="566928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C2A</a:t>
            </a:r>
            <a:endParaRPr lang="en-US" sz="10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ECDD2C91-0C88-9FC7-64D8-0E619DEFA427}"/>
              </a:ext>
            </a:extLst>
          </p:cNvPr>
          <p:cNvSpPr txBox="1"/>
          <p:nvPr/>
        </p:nvSpPr>
        <p:spPr>
          <a:xfrm>
            <a:off x="54864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disaster-scene humans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45E8AE-F8FF-76E2-2A99-E0B5967EBB10}"/>
              </a:ext>
            </a:extLst>
          </p:cNvPr>
          <p:cNvSpPr txBox="1"/>
          <p:nvPr/>
        </p:nvSpPr>
        <p:spPr>
          <a:xfrm>
            <a:off x="566928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01961B4-4A44-190F-BAC0-33B5678F5C1A}"/>
              </a:ext>
            </a:extLst>
          </p:cNvPr>
          <p:cNvSpPr/>
          <p:nvPr/>
        </p:nvSpPr>
        <p:spPr>
          <a:xfrm>
            <a:off x="2061972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08A38EF-5F77-C096-7CFF-5F5B4CAEB577}"/>
              </a:ext>
            </a:extLst>
          </p:cNvPr>
          <p:cNvSpPr txBox="1"/>
          <p:nvPr/>
        </p:nvSpPr>
        <p:spPr>
          <a:xfrm>
            <a:off x="2171700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VisDrone</a:t>
            </a:r>
            <a:endParaRPr lang="en-US" sz="1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7054517-C555-7E96-9CAA-7BBD6A8B1A68}"/>
              </a:ext>
            </a:extLst>
          </p:cNvPr>
          <p:cNvSpPr txBox="1"/>
          <p:nvPr/>
        </p:nvSpPr>
        <p:spPr>
          <a:xfrm>
            <a:off x="2153412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aerial capture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E777DEB1-368C-2F6A-1DB1-312D063B0AE1}"/>
              </a:ext>
            </a:extLst>
          </p:cNvPr>
          <p:cNvSpPr txBox="1"/>
          <p:nvPr/>
        </p:nvSpPr>
        <p:spPr>
          <a:xfrm>
            <a:off x="2171700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7A64957-33CA-4994-8125-D4B70865004E}"/>
              </a:ext>
            </a:extLst>
          </p:cNvPr>
          <p:cNvSpPr/>
          <p:nvPr/>
        </p:nvSpPr>
        <p:spPr>
          <a:xfrm>
            <a:off x="3666744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FCCF72CB-F7DB-B687-3C3B-9ACB87A3A10F}"/>
              </a:ext>
            </a:extLst>
          </p:cNvPr>
          <p:cNvSpPr txBox="1"/>
          <p:nvPr/>
        </p:nvSpPr>
        <p:spPr>
          <a:xfrm>
            <a:off x="3776472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AIDER</a:t>
            </a:r>
            <a:endParaRPr lang="en-US" sz="10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934C958-27E8-7FE0-33CB-4D208D8D33EE}"/>
              </a:ext>
            </a:extLst>
          </p:cNvPr>
          <p:cNvSpPr txBox="1"/>
          <p:nvPr/>
        </p:nvSpPr>
        <p:spPr>
          <a:xfrm>
            <a:off x="3758184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hazard imagery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D0674CE-383E-1AAA-BCD5-A056C1D72C2B}"/>
              </a:ext>
            </a:extLst>
          </p:cNvPr>
          <p:cNvSpPr txBox="1"/>
          <p:nvPr/>
        </p:nvSpPr>
        <p:spPr>
          <a:xfrm>
            <a:off x="3776472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D07BF0D9-463E-C446-E7DB-621B07506D8C}"/>
              </a:ext>
            </a:extLst>
          </p:cNvPr>
          <p:cNvSpPr/>
          <p:nvPr/>
        </p:nvSpPr>
        <p:spPr>
          <a:xfrm>
            <a:off x="5271516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2A4CD33-F830-EC0A-7AB3-2BCB44D96EF1}"/>
              </a:ext>
            </a:extLst>
          </p:cNvPr>
          <p:cNvSpPr txBox="1"/>
          <p:nvPr/>
        </p:nvSpPr>
        <p:spPr>
          <a:xfrm>
            <a:off x="5381244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Ultralytics</a:t>
            </a:r>
            <a:endParaRPr lang="en-US" sz="10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1CA88874-40DB-557C-012D-043F921DA3B9}"/>
              </a:ext>
            </a:extLst>
          </p:cNvPr>
          <p:cNvSpPr txBox="1"/>
          <p:nvPr/>
        </p:nvSpPr>
        <p:spPr>
          <a:xfrm>
            <a:off x="5362956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+ export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BF64832-8671-816F-C23B-2A22831907E7}"/>
              </a:ext>
            </a:extLst>
          </p:cNvPr>
          <p:cNvSpPr txBox="1"/>
          <p:nvPr/>
        </p:nvSpPr>
        <p:spPr>
          <a:xfrm>
            <a:off x="5381244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B5492E81-AB8C-EC68-5B6C-2D05914FB5CA}"/>
              </a:ext>
            </a:extLst>
          </p:cNvPr>
          <p:cNvSpPr/>
          <p:nvPr/>
        </p:nvSpPr>
        <p:spPr>
          <a:xfrm>
            <a:off x="6876288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2723EEDE-2C79-A76A-E4AD-8915DEAC974D}"/>
              </a:ext>
            </a:extLst>
          </p:cNvPr>
          <p:cNvSpPr txBox="1"/>
          <p:nvPr/>
        </p:nvSpPr>
        <p:spPr>
          <a:xfrm>
            <a:off x="6986016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ByteTrack</a:t>
            </a:r>
            <a:endParaRPr lang="en-US" sz="10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2A96A383-759B-0214-E63C-5E83F04117EB}"/>
              </a:ext>
            </a:extLst>
          </p:cNvPr>
          <p:cNvSpPr txBox="1"/>
          <p:nvPr/>
        </p:nvSpPr>
        <p:spPr>
          <a:xfrm>
            <a:off x="6967728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double-counting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1BCD9CBC-99B7-CC90-48AC-3B95705FAB06}"/>
              </a:ext>
            </a:extLst>
          </p:cNvPr>
          <p:cNvSpPr txBox="1"/>
          <p:nvPr/>
        </p:nvSpPr>
        <p:spPr>
          <a:xfrm>
            <a:off x="6986016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93D5A86D-CDFA-E59E-8861-FB665FFC1300}"/>
              </a:ext>
            </a:extLst>
          </p:cNvPr>
          <p:cNvSpPr/>
          <p:nvPr/>
        </p:nvSpPr>
        <p:spPr>
          <a:xfrm>
            <a:off x="8481060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F4379018-303A-C6C8-3C35-F9606D50CC52}"/>
              </a:ext>
            </a:extLst>
          </p:cNvPr>
          <p:cNvSpPr txBox="1"/>
          <p:nvPr/>
        </p:nvSpPr>
        <p:spPr>
          <a:xfrm>
            <a:off x="8590788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Qualcomm AI Hub</a:t>
            </a:r>
            <a:endParaRPr lang="en-US" sz="10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C1B4698E-7DCB-B922-599C-ACC09B112DBF}"/>
              </a:ext>
            </a:extLst>
          </p:cNvPr>
          <p:cNvSpPr txBox="1"/>
          <p:nvPr/>
        </p:nvSpPr>
        <p:spPr>
          <a:xfrm>
            <a:off x="857250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benchmarking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DC86A30D-01EF-0AEC-14C4-65CA3F5D1CFC}"/>
              </a:ext>
            </a:extLst>
          </p:cNvPr>
          <p:cNvSpPr txBox="1"/>
          <p:nvPr/>
        </p:nvSpPr>
        <p:spPr>
          <a:xfrm>
            <a:off x="8590788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7C84BC5F-B8A9-365A-D6BA-64B3D7A32B63}"/>
              </a:ext>
            </a:extLst>
          </p:cNvPr>
          <p:cNvSpPr/>
          <p:nvPr/>
        </p:nvSpPr>
        <p:spPr>
          <a:xfrm>
            <a:off x="10085832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2AF6D1B6-3772-8C61-13A2-4E920C3AFA9F}"/>
              </a:ext>
            </a:extLst>
          </p:cNvPr>
          <p:cNvSpPr txBox="1"/>
          <p:nvPr/>
        </p:nvSpPr>
        <p:spPr>
          <a:xfrm>
            <a:off x="10195560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WPC 865–868</a:t>
            </a:r>
            <a:endParaRPr lang="en-US" sz="100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13548F3E-448C-52B7-A5C7-EF440463AD7D}"/>
              </a:ext>
            </a:extLst>
          </p:cNvPr>
          <p:cNvSpPr txBox="1"/>
          <p:nvPr/>
        </p:nvSpPr>
        <p:spPr>
          <a:xfrm>
            <a:off x="10177272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licence-exempt band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65BDD121-529F-5BAC-FCE2-FCA502E3F5B2}"/>
              </a:ext>
            </a:extLst>
          </p:cNvPr>
          <p:cNvSpPr txBox="1"/>
          <p:nvPr/>
        </p:nvSpPr>
        <p:spPr>
          <a:xfrm>
            <a:off x="10195560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BEA40B9-0FAA-9524-B230-862D8F480E6B}"/>
              </a:ext>
            </a:extLst>
          </p:cNvPr>
          <p:cNvSpPr/>
          <p:nvPr/>
        </p:nvSpPr>
        <p:spPr>
          <a:xfrm>
            <a:off x="7955280" y="3108960"/>
            <a:ext cx="3749040" cy="3017520"/>
          </a:xfrm>
          <a:prstGeom prst="roundRect">
            <a:avLst>
              <a:gd name="adj" fmla="val 1818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85C21B0-37F3-0851-9A56-A36D2F867A22}"/>
              </a:ext>
            </a:extLst>
          </p:cNvPr>
          <p:cNvSpPr txBox="1"/>
          <p:nvPr/>
        </p:nvSpPr>
        <p:spPr>
          <a:xfrm>
            <a:off x="8138160" y="32552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BUILT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5BF3D4A-3028-1040-9354-6348E8FE0DDA}"/>
              </a:ext>
            </a:extLst>
          </p:cNvPr>
          <p:cNvSpPr txBox="1"/>
          <p:nvPr/>
        </p:nvSpPr>
        <p:spPr>
          <a:xfrm>
            <a:off x="8138160" y="3584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Detection, tracking, localization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F9DF16F-9AC2-A01E-FD75-680D3C7EC13A}"/>
              </a:ext>
            </a:extLst>
          </p:cNvPr>
          <p:cNvSpPr txBox="1"/>
          <p:nvPr/>
        </p:nvSpPr>
        <p:spPr>
          <a:xfrm>
            <a:off x="10515600" y="35844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A8E7005-0940-9D42-955A-655A06E51F0E}"/>
              </a:ext>
            </a:extLst>
          </p:cNvPr>
          <p:cNvSpPr txBox="1"/>
          <p:nvPr/>
        </p:nvSpPr>
        <p:spPr>
          <a:xfrm>
            <a:off x="8138160" y="3886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Priority scoring</a:t>
            </a:r>
            <a:endParaRPr lang="en-US" sz="9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8C655A0-9FF4-86B8-D261-3696FD468CC3}"/>
              </a:ext>
            </a:extLst>
          </p:cNvPr>
          <p:cNvSpPr txBox="1"/>
          <p:nvPr/>
        </p:nvSpPr>
        <p:spPr>
          <a:xfrm>
            <a:off x="10515600" y="3886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CE39DD4-4478-4DB1-5518-0BEF67027C04}"/>
              </a:ext>
            </a:extLst>
          </p:cNvPr>
          <p:cNvSpPr txBox="1"/>
          <p:nvPr/>
        </p:nvSpPr>
        <p:spPr>
          <a:xfrm>
            <a:off x="8138160" y="4187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Command dashboard</a:t>
            </a:r>
            <a:endParaRPr lang="en-US" sz="9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9131D5F-A659-9466-6284-BA564A107F30}"/>
              </a:ext>
            </a:extLst>
          </p:cNvPr>
          <p:cNvSpPr txBox="1"/>
          <p:nvPr/>
        </p:nvSpPr>
        <p:spPr>
          <a:xfrm>
            <a:off x="10515600" y="41879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F711242-EB59-1EC5-4DEE-0FE7F608BD8E}"/>
              </a:ext>
            </a:extLst>
          </p:cNvPr>
          <p:cNvSpPr txBox="1"/>
          <p:nvPr/>
        </p:nvSpPr>
        <p:spPr>
          <a:xfrm>
            <a:off x="8138160" y="44897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On-device benchmark</a:t>
            </a:r>
            <a:endParaRPr lang="en-US" sz="9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3241F0E-6865-DEC2-986B-6FADA3E23B78}"/>
              </a:ext>
            </a:extLst>
          </p:cNvPr>
          <p:cNvSpPr txBox="1"/>
          <p:nvPr/>
        </p:nvSpPr>
        <p:spPr>
          <a:xfrm>
            <a:off x="10515600" y="44897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1870DC0-1D69-1C42-D9DE-A646E2213B2A}"/>
              </a:ext>
            </a:extLst>
          </p:cNvPr>
          <p:cNvSpPr txBox="1"/>
          <p:nvPr/>
        </p:nvSpPr>
        <p:spPr>
          <a:xfrm>
            <a:off x="8138160" y="47914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RGB + thermal fusion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9F86D563-0D34-D191-E755-23B120F7CEA0}"/>
              </a:ext>
            </a:extLst>
          </p:cNvPr>
          <p:cNvSpPr txBox="1"/>
          <p:nvPr/>
        </p:nvSpPr>
        <p:spPr>
          <a:xfrm>
            <a:off x="10515600" y="47914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292A4353-7F66-47D4-453E-77B58F9859D7}"/>
              </a:ext>
            </a:extLst>
          </p:cNvPr>
          <p:cNvSpPr txBox="1"/>
          <p:nvPr/>
        </p:nvSpPr>
        <p:spPr>
          <a:xfrm>
            <a:off x="8138160" y="5093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Hazard classification</a:t>
            </a:r>
            <a:endParaRPr lang="en-US" sz="9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489FCCD1-EB31-DED7-F76B-9F4D2A55767F}"/>
              </a:ext>
            </a:extLst>
          </p:cNvPr>
          <p:cNvSpPr txBox="1"/>
          <p:nvPr/>
        </p:nvSpPr>
        <p:spPr>
          <a:xfrm>
            <a:off x="10515600" y="50932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C5D460E2-2B37-879F-9A71-64D7A3C11687}"/>
              </a:ext>
            </a:extLst>
          </p:cNvPr>
          <p:cNvSpPr txBox="1"/>
          <p:nvPr/>
        </p:nvSpPr>
        <p:spPr>
          <a:xfrm>
            <a:off x="8138160" y="5394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Adaptive planner</a:t>
            </a:r>
            <a:endParaRPr lang="en-US" sz="9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0B5FDA23-34DB-EA77-73DD-675E3F1879F0}"/>
              </a:ext>
            </a:extLst>
          </p:cNvPr>
          <p:cNvSpPr txBox="1"/>
          <p:nvPr/>
        </p:nvSpPr>
        <p:spPr>
          <a:xfrm>
            <a:off x="10515600" y="53949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E2BF2021-D822-5415-975E-29330D8347D0}"/>
              </a:ext>
            </a:extLst>
          </p:cNvPr>
          <p:cNvSpPr txBox="1"/>
          <p:nvPr/>
        </p:nvSpPr>
        <p:spPr>
          <a:xfrm>
            <a:off x="8138160" y="56967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GPS-denied SLAM</a:t>
            </a:r>
            <a:endParaRPr lang="en-US" sz="9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AF23951A-98E8-1D56-6D8C-0D87998F1C22}"/>
              </a:ext>
            </a:extLst>
          </p:cNvPr>
          <p:cNvSpPr txBox="1"/>
          <p:nvPr/>
        </p:nvSpPr>
        <p:spPr>
          <a:xfrm>
            <a:off x="10515600" y="56967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</a:t>
            </a:r>
            <a:endParaRPr 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410" name="Rounded Rectangle 17409"/>
          <p:cNvSpPr/>
          <p:nvPr/>
        </p:nvSpPr>
        <p:spPr>
          <a:xfrm>
            <a:off x="329184" y="3108960"/>
            <a:ext cx="3703320" cy="3017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512064" y="434340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Calibri"/>
              </a:rPr>
              <a:t>DASHBOARD SCREENSHOT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12064" y="4636007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5A6478"/>
                </a:solidFill>
                <a:latin typeface="Calibri"/>
              </a:rPr>
              <a:t>Full capture — live map, ranked
rescue queue and reconciled counts.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06240" y="3108960"/>
            <a:ext cx="3645960" cy="3017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4389120" y="434340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Calibri"/>
              </a:rPr>
              <a:t>DETECTION OUTPUT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389120" y="4636007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 dirty="0">
                <a:solidFill>
                  <a:srgbClr val="5A6478"/>
                </a:solidFill>
                <a:latin typeface="Calibri"/>
              </a:rPr>
              <a:t>One dense frame from the model
with boxes on survivors.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8061</TotalTime>
  <Words>1254</Words>
  <Application>Microsoft Macintosh PowerPoint</Application>
  <PresentationFormat>Widescreen</PresentationFormat>
  <Paragraphs>173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Al Nile</vt:lpstr>
      <vt:lpstr>Arial</vt:lpstr>
      <vt:lpstr>Arial Black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A DRONE THAT DECIDES WHERE TO LOOK NEXT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Dewang Dhakad</cp:lastModifiedBy>
  <cp:revision>154</cp:revision>
  <dcterms:created xsi:type="dcterms:W3CDTF">2013-12-12T18:46:50Z</dcterms:created>
  <dcterms:modified xsi:type="dcterms:W3CDTF">2026-09-22T17:52:09Z</dcterms:modified>
  <cp:category/>
</cp:coreProperties>
</file>