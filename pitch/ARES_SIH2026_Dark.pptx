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54864"/>
            <a:ext cx="2249424" cy="10607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26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86384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spc="-150" kern="0" dirty="0">
                <a:solidFill>
                  <a:srgbClr val="FFC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ARES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019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Rescue &amp; Environmental Intelligence System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24942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drone that decides where to look next.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880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3063240" y="284378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26177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009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063240" y="3264408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deployable AI-powered autonomous drone that aids search-and-rescue operations by detecting people and hazards, thereby improving responder safety and reducing victim discovery time.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370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063240" y="43342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and Drones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914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063240" y="4754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5212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3063240" y="51755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9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from portal ]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56327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3063240" y="55961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732520" y="1325880"/>
            <a:ext cx="2971800" cy="4800600"/>
          </a:xfrm>
          <a:prstGeom prst="roundRect">
            <a:avLst>
              <a:gd name="adj" fmla="val 1846"/>
            </a:avLst>
          </a:prstGeom>
          <a:solidFill>
            <a:srgbClr val="1C1926"/>
          </a:solidFill>
          <a:ln w="12700">
            <a:solidFill>
              <a:srgbClr val="D93A26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8915400" y="34152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3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 · IMAGE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915400" y="37261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Aerial disaster scene.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Darken 55%.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caption.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54864"/>
            <a:ext cx="2249424" cy="10607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184" y="201168"/>
            <a:ext cx="1252728" cy="804672"/>
          </a:xfrm>
          <a:prstGeom prst="ellipse">
            <a:avLst/>
          </a:prstGeom>
          <a:solidFill>
            <a:srgbClr val="0A0910"/>
          </a:solidFill>
          <a:ln w="15875">
            <a:solidFill>
              <a:srgbClr val="FFC93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9184" y="502920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828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spc="-40" kern="0" dirty="0">
                <a:solidFill>
                  <a:srgbClr val="F4E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SOLUTION</a:t>
            </a:r>
            <a:endParaRPr lang="en-US" sz="29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40" kern="0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" y="1188720"/>
            <a:ext cx="3200400" cy="4069080"/>
          </a:xfrm>
          <a:prstGeom prst="roundRect">
            <a:avLst>
              <a:gd name="adj" fmla="val 1714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" y="137160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87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IDEA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30352" y="1737360"/>
            <a:ext cx="279806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 an earthquake or flood, the first hours decide who survives. Search teams fly fixed patterns — a lawnmower grid that treats every square metre as equally likely to hold someone. It is not.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 insert one sourced survival-rate figure ]. Time over empty ground is time taken from ground that holds someone.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UAV that treats search as a decision, not coverage. Onboard AI finds survivors, ranks them, and re-plans its own path in the air — with the radio switched off.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29184" y="5440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i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is a decision problem,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i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coverage problem.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749040" y="1371600"/>
            <a:ext cx="4480560" cy="3611880"/>
          </a:xfrm>
          <a:prstGeom prst="roundRect">
            <a:avLst>
              <a:gd name="adj" fmla="val 1519"/>
            </a:avLst>
          </a:prstGeom>
          <a:solidFill>
            <a:srgbClr val="15131C"/>
          </a:solidFill>
          <a:ln w="12700">
            <a:solidFill>
              <a:srgbClr val="2A253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86200" y="1490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AIRCRAFT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327334" y="2343443"/>
            <a:ext cx="606840" cy="250874"/>
          </a:xfrm>
          <a:prstGeom prst="line">
            <a:avLst/>
          </a:prstGeom>
          <a:noFill/>
          <a:ln w="31750">
            <a:solidFill>
              <a:srgbClr val="F7871F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272188" y="3099816"/>
            <a:ext cx="0" cy="329184"/>
          </a:xfrm>
          <a:prstGeom prst="line">
            <a:avLst/>
          </a:prstGeom>
          <a:noFill/>
          <a:ln w="31750">
            <a:solidFill>
              <a:srgbClr val="F7871F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 flipH="1">
            <a:off x="6327334" y="3934499"/>
            <a:ext cx="606840" cy="250874"/>
          </a:xfrm>
          <a:prstGeom prst="line">
            <a:avLst/>
          </a:prstGeom>
          <a:noFill/>
          <a:ln w="31750">
            <a:solidFill>
              <a:srgbClr val="F7871F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 flipH="1" flipV="1">
            <a:off x="5044466" y="3934499"/>
            <a:ext cx="606840" cy="250874"/>
          </a:xfrm>
          <a:prstGeom prst="line">
            <a:avLst/>
          </a:prstGeom>
          <a:noFill/>
          <a:ln w="31750">
            <a:solidFill>
              <a:srgbClr val="F7871F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 flipV="1">
            <a:off x="4706452" y="3099816"/>
            <a:ext cx="0" cy="329184"/>
          </a:xfrm>
          <a:prstGeom prst="line">
            <a:avLst/>
          </a:prstGeom>
          <a:noFill/>
          <a:ln w="31750">
            <a:solidFill>
              <a:srgbClr val="F7871F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 flipV="1">
            <a:off x="5044466" y="2343443"/>
            <a:ext cx="606840" cy="250874"/>
          </a:xfrm>
          <a:prstGeom prst="line">
            <a:avLst/>
          </a:prstGeom>
          <a:noFill/>
          <a:ln w="31750">
            <a:solidFill>
              <a:srgbClr val="F7871F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367528" y="2011680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1C1926"/>
          </a:solidFill>
          <a:ln w="12700">
            <a:solidFill>
              <a:srgbClr val="F7871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67528" y="210312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650396" y="2542032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1C1926"/>
          </a:solidFill>
          <a:ln w="12700">
            <a:solidFill>
              <a:srgbClr val="F7871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50396" y="263347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650396" y="3602736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1C1926"/>
          </a:solidFill>
          <a:ln w="12700">
            <a:solidFill>
              <a:srgbClr val="F7871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650396" y="369417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367528" y="4133088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1C1926"/>
          </a:solidFill>
          <a:ln w="12700">
            <a:solidFill>
              <a:srgbClr val="F7871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367528" y="422452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084660" y="3602736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1C1926"/>
          </a:solidFill>
          <a:ln w="12700">
            <a:solidFill>
              <a:srgbClr val="F7871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084660" y="369417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084660" y="2542032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1C1926"/>
          </a:solidFill>
          <a:ln w="12700">
            <a:solidFill>
              <a:srgbClr val="F7871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084660" y="263347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5303520" y="29900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4E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s</a:t>
            </a:r>
            <a:endParaRPr lang="en-US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5212080" y="33192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cycle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989320" y="4983480"/>
            <a:ext cx="0" cy="457200"/>
          </a:xfrm>
          <a:prstGeom prst="line">
            <a:avLst/>
          </a:prstGeom>
          <a:noFill/>
          <a:ln w="12700">
            <a:solidFill>
              <a:srgbClr val="9A93A8"/>
            </a:solidFill>
            <a:prstDash val="dash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4800600" y="5440680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1C1926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800600" y="55504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8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STATION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3749040" y="589788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 records · a few hundred bytes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8458200" y="118872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 →  ARES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458200" y="1517904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1C1926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595360" y="16093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grid — every metre treated alike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10076688" y="2212848"/>
            <a:ext cx="0" cy="182880"/>
          </a:xfrm>
          <a:prstGeom prst="line">
            <a:avLst/>
          </a:prstGeom>
          <a:noFill/>
          <a:ln w="19050">
            <a:solidFill>
              <a:srgbClr val="F7871F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8458200" y="2432304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2A2109"/>
          </a:solidFill>
          <a:ln w="12700">
            <a:solidFill>
              <a:srgbClr val="FFC93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595360" y="25237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ordered by where survivors are likely to be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8458200" y="3145536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1C1926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595360" y="323697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person counted many times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10076688" y="3840480"/>
            <a:ext cx="0" cy="182880"/>
          </a:xfrm>
          <a:prstGeom prst="line">
            <a:avLst/>
          </a:prstGeom>
          <a:noFill/>
          <a:ln w="19050">
            <a:solidFill>
              <a:srgbClr val="F7871F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8458200" y="4059936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2A2109"/>
          </a:solidFill>
          <a:ln w="12700">
            <a:solidFill>
              <a:srgbClr val="FFC93D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595360" y="415137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IDs — 7,081 detections become 23 people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8458200" y="4773168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1C1926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595360" y="48646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network the disaster destroyed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10076688" y="5468112"/>
            <a:ext cx="0" cy="182880"/>
          </a:xfrm>
          <a:prstGeom prst="line">
            <a:avLst/>
          </a:prstGeom>
          <a:noFill/>
          <a:ln w="19050">
            <a:solidFill>
              <a:srgbClr val="F7871F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8458200" y="5687568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2A2109"/>
          </a:solidFill>
          <a:ln w="12700">
            <a:solidFill>
              <a:srgbClr val="FFC93D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595360" y="57790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onboard — 2.7 KB replaces 3 Mbps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54864"/>
            <a:ext cx="2249424" cy="10607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184" y="201168"/>
            <a:ext cx="1252728" cy="804672"/>
          </a:xfrm>
          <a:prstGeom prst="ellipse">
            <a:avLst/>
          </a:prstGeom>
          <a:solidFill>
            <a:srgbClr val="0A0910"/>
          </a:solidFill>
          <a:ln w="15875">
            <a:solidFill>
              <a:srgbClr val="FFC93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9184" y="502920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828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spc="-40" kern="0" dirty="0">
                <a:solidFill>
                  <a:srgbClr val="F4E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APPROACH</a:t>
            </a:r>
            <a:endParaRPr lang="en-US" sz="29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40" kern="0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BUILT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" y="1188720"/>
            <a:ext cx="3200400" cy="3703320"/>
          </a:xfrm>
          <a:prstGeom prst="roundRect">
            <a:avLst>
              <a:gd name="adj" fmla="val 1714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776" y="13167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FRAME BECOMES ONE DECISION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12064" y="1664208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3B1049"/>
          </a:solidFill>
          <a:ln w="6350">
            <a:solidFill>
              <a:srgbClr val="0A091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1719072"/>
            <a:ext cx="127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frames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787652" y="1783080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C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video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40664" y="2267712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8E1F4B"/>
          </a:solidFill>
          <a:ln w="6350">
            <a:solidFill>
              <a:srgbClr val="0A091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0392" y="2322576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7,081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810512" y="238658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C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69264" y="2871216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7871F"/>
          </a:solidFill>
          <a:ln w="6350">
            <a:solidFill>
              <a:srgbClr val="0A091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78992" y="2926080"/>
            <a:ext cx="86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833372" y="2990088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3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175004" y="3474720"/>
            <a:ext cx="1508760" cy="457200"/>
          </a:xfrm>
          <a:prstGeom prst="roundRect">
            <a:avLst>
              <a:gd name="adj" fmla="val 12000"/>
            </a:avLst>
          </a:prstGeom>
          <a:solidFill>
            <a:srgbClr val="FFC93D"/>
          </a:solidFill>
          <a:ln w="6350">
            <a:solidFill>
              <a:srgbClr val="0A091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284732" y="3529584"/>
            <a:ext cx="678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853946" y="3593592"/>
            <a:ext cx="6446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3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357884" y="4078224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0C2"/>
          </a:solidFill>
          <a:ln w="6350">
            <a:solidFill>
              <a:srgbClr val="0A091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467612" y="4133088"/>
            <a:ext cx="514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872234" y="4197096"/>
            <a:ext cx="461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3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493776" y="4572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is the argument: we do not double-count.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749040" y="1188720"/>
            <a:ext cx="4206240" cy="1783080"/>
          </a:xfrm>
          <a:prstGeom prst="roundRect">
            <a:avLst>
              <a:gd name="adj" fmla="val 3077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913632" y="1307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COMPUTERS, ONE AIRFRAME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931920" y="1609344"/>
            <a:ext cx="1874520" cy="1024128"/>
          </a:xfrm>
          <a:prstGeom prst="roundRect">
            <a:avLst>
              <a:gd name="adj" fmla="val 5357"/>
            </a:avLst>
          </a:prstGeom>
          <a:solidFill>
            <a:srgbClr val="1C1926"/>
          </a:solidFill>
          <a:ln w="12700">
            <a:solidFill>
              <a:srgbClr val="2A253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023360" y="170078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CONTROLLER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4023360" y="19385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ArduPilot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stabilise · failsafe · RTH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897880" y="1609344"/>
            <a:ext cx="1874520" cy="1024128"/>
          </a:xfrm>
          <a:prstGeom prst="roundRect">
            <a:avLst>
              <a:gd name="adj" fmla="val 5357"/>
            </a:avLst>
          </a:prstGeom>
          <a:solidFill>
            <a:srgbClr val="1C1926"/>
          </a:solidFill>
          <a:ln w="12700">
            <a:solidFill>
              <a:srgbClr val="F7871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989320" y="170078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(RB3)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5989320" y="19385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+ planner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safe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5303520" y="20665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  MAVLink  ►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3931920" y="26883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companion board fails, the aircraft still flies home.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749040" y="3108960"/>
            <a:ext cx="4206240" cy="1783080"/>
          </a:xfrm>
          <a:prstGeom prst="roundRect">
            <a:avLst>
              <a:gd name="adj" fmla="val 3077"/>
            </a:avLst>
          </a:prstGeom>
          <a:solidFill>
            <a:srgbClr val="1C1926"/>
          </a:solidFill>
          <a:ln w="12700">
            <a:solidFill>
              <a:srgbClr val="D93A26"/>
            </a:solidFill>
            <a:prstDash val="dash"/>
          </a:ln>
        </p:spPr>
      </p:sp>
      <p:sp>
        <p:nvSpPr>
          <p:cNvPr id="38" name="Text 35"/>
          <p:cNvSpPr txBox="1"/>
          <p:nvPr/>
        </p:nvSpPr>
        <p:spPr>
          <a:xfrm>
            <a:off x="3931920" y="36896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3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 · DASHBOARD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3931920" y="40005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screen capture — map,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queue and counts visible.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8183880" y="11887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183880" y="1517904"/>
            <a:ext cx="3520440" cy="493776"/>
          </a:xfrm>
          <a:prstGeom prst="roundRect">
            <a:avLst>
              <a:gd name="adj" fmla="val 11111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311896" y="157276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8311896" y="176479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· single person class · C2A + VisDrone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8183880" y="2093976"/>
            <a:ext cx="3520440" cy="493776"/>
          </a:xfrm>
          <a:prstGeom prst="roundRect">
            <a:avLst>
              <a:gd name="adj" fmla="val 11111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311896" y="214884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8311896" y="23408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YOLOv8s · recall 0.883 · night and smoke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8183880" y="2670048"/>
            <a:ext cx="3520440" cy="493776"/>
          </a:xfrm>
          <a:prstGeom prst="roundRect">
            <a:avLst>
              <a:gd name="adj" fmla="val 11111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31189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8311896" y="291693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ByteTrack — persistent IDs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8183880" y="3246120"/>
            <a:ext cx="3520440" cy="493776"/>
          </a:xfrm>
          <a:prstGeom prst="roundRect">
            <a:avLst>
              <a:gd name="adj" fmla="val 11111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311896" y="330098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compute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8311896" y="349300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Qualcomm RB3 Gen 2 · INT8 on NPU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8183880" y="3822192"/>
            <a:ext cx="3520440" cy="493776"/>
          </a:xfrm>
          <a:prstGeom prst="roundRect">
            <a:avLst>
              <a:gd name="adj" fmla="val 11111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311896" y="387705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/ Frontend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8311896" y="406908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React · Leaflet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8183880" y="4398264"/>
            <a:ext cx="3520440" cy="493776"/>
          </a:xfrm>
          <a:prstGeom prst="roundRect">
            <a:avLst>
              <a:gd name="adj" fmla="val 11111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8311896" y="445312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Downlink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8311896" y="46451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865–868 MHz — licence-exempt in India</a:t>
            </a:r>
            <a:endParaRPr lang="en-US" sz="850" dirty="0"/>
          </a:p>
        </p:txBody>
      </p:sp>
      <p:sp>
        <p:nvSpPr>
          <p:cNvPr id="59" name="Text 56"/>
          <p:cNvSpPr txBox="1"/>
          <p:nvPr/>
        </p:nvSpPr>
        <p:spPr>
          <a:xfrm>
            <a:off x="329184" y="51023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BUDGET · ONE FRAME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329184" y="5376672"/>
            <a:ext cx="11375136" cy="457200"/>
          </a:xfrm>
          <a:prstGeom prst="rect">
            <a:avLst/>
          </a:prstGeom>
          <a:solidFill>
            <a:srgbClr val="FFC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29184" y="5376672"/>
            <a:ext cx="11274552" cy="457200"/>
          </a:xfrm>
          <a:prstGeom prst="rect">
            <a:avLst/>
          </a:prstGeom>
          <a:solidFill>
            <a:srgbClr val="F787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475488" y="5486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 209.5 ms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329184" y="5907024"/>
            <a:ext cx="11375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that makes ARES adaptive — localization, priority, the planner — costs 0.87% of the frame.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54864"/>
            <a:ext cx="2249424" cy="10607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184" y="201168"/>
            <a:ext cx="1252728" cy="804672"/>
          </a:xfrm>
          <a:prstGeom prst="ellipse">
            <a:avLst/>
          </a:prstGeom>
          <a:solidFill>
            <a:srgbClr val="0A0910"/>
          </a:solidFill>
          <a:ln w="15875">
            <a:solidFill>
              <a:srgbClr val="FFC93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9184" y="502920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828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spc="-40" kern="0" dirty="0">
                <a:solidFill>
                  <a:srgbClr val="F4E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FEASIBILITY AND VIABILITY</a:t>
            </a:r>
            <a:endParaRPr lang="en-US" sz="29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40" kern="0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CAN DEFEND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" y="1188720"/>
            <a:ext cx="3611880" cy="3703320"/>
          </a:xfrm>
          <a:prstGeom prst="roundRect">
            <a:avLst>
              <a:gd name="adj" fmla="val 1519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" y="137160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87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FEASIBILITY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30352" y="1737360"/>
            <a:ext cx="320954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C2A and VisDrone for survivors, AIDER for hazards.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hardware: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Qualcomm dev board and an off-the-shelf airframe.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assumed: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benchmarked on the board, not a datasheet.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paid services: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 tiles, no API keys, nothing that expires.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60520" y="1188720"/>
            <a:ext cx="3611880" cy="3703320"/>
          </a:xfrm>
          <a:prstGeom prst="roundRect">
            <a:avLst>
              <a:gd name="adj" fmla="val 1519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61688" y="137160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87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VIABILITY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361688" y="1737360"/>
            <a:ext cx="320954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where infrastructure is gone: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towers fall in exactly these conditions.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to carry: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records instead of video — 136× less data.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Airframe-independent: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contribution is software.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transparent weighted formula, not a black box.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92440" y="1188720"/>
            <a:ext cx="3611880" cy="3703320"/>
          </a:xfrm>
          <a:prstGeom prst="roundRect">
            <a:avLst>
              <a:gd name="adj" fmla="val 1519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3608" y="137160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3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RISKS WE NAME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293608" y="1737360"/>
            <a:ext cx="320954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is simulated: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never flown. 30 simulated missions, labelled.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is FP32, device is INT8: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quantisation cost unmeasured.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and heat unmeasured: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benchmark is not a 20-minute sortie.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Footage borrowed: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detections are our model's real output.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29184" y="51389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C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0.824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329184" y="57058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recall at conf 0.18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3182112" y="51389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C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0.883</a:t>
            </a:r>
            <a:endParaRPr lang="en-US" sz="3200" dirty="0"/>
          </a:p>
        </p:txBody>
      </p:sp>
      <p:sp>
        <p:nvSpPr>
          <p:cNvPr id="21" name="Text 18"/>
          <p:cNvSpPr txBox="1"/>
          <p:nvPr/>
        </p:nvSpPr>
        <p:spPr>
          <a:xfrm>
            <a:off x="3182112" y="57058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recall, night and smoke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090672" y="5193792"/>
            <a:ext cx="0" cy="841248"/>
          </a:xfrm>
          <a:prstGeom prst="line">
            <a:avLst/>
          </a:prstGeom>
          <a:noFill/>
          <a:ln w="12700">
            <a:solidFill>
              <a:srgbClr val="2A253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35040" y="51389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C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4.8 FPS</a:t>
            </a:r>
            <a:endParaRPr lang="en-US" sz="320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57058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device, INT8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0" y="5193792"/>
            <a:ext cx="0" cy="841248"/>
          </a:xfrm>
          <a:prstGeom prst="line">
            <a:avLst/>
          </a:prstGeom>
          <a:noFill/>
          <a:ln w="12700">
            <a:solidFill>
              <a:srgbClr val="2A253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887968" y="51389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C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2.7 KB</a:t>
            </a:r>
            <a:endParaRPr lang="en-US" sz="3200" dirty="0"/>
          </a:p>
        </p:txBody>
      </p:sp>
      <p:sp>
        <p:nvSpPr>
          <p:cNvPr id="27" name="Text 24"/>
          <p:cNvSpPr txBox="1"/>
          <p:nvPr/>
        </p:nvSpPr>
        <p:spPr>
          <a:xfrm>
            <a:off x="8887968" y="57058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mission downlink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796528" y="5193792"/>
            <a:ext cx="0" cy="841248"/>
          </a:xfrm>
          <a:prstGeom prst="line">
            <a:avLst/>
          </a:prstGeom>
          <a:noFill/>
          <a:ln w="12700">
            <a:solidFill>
              <a:srgbClr val="2A253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54864"/>
            <a:ext cx="2249424" cy="10607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184" y="201168"/>
            <a:ext cx="1252728" cy="804672"/>
          </a:xfrm>
          <a:prstGeom prst="ellipse">
            <a:avLst/>
          </a:prstGeom>
          <a:solidFill>
            <a:srgbClr val="0A0910"/>
          </a:solidFill>
          <a:ln w="15875">
            <a:solidFill>
              <a:srgbClr val="FFC93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9184" y="502920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828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spc="-40" kern="0" dirty="0">
                <a:solidFill>
                  <a:srgbClr val="F4E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AND BENEFITS</a:t>
            </a:r>
            <a:endParaRPr lang="en-US" sz="29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40" kern="0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IN SIMULATION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29184" y="1152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more people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29184" y="138988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of 20 survivors against a lawnmower grid's 10.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29184" y="17007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them sooner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29184" y="193852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the survivors reached 3.1× faster.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no network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29184" y="24871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mission report is 2.7 KB.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" y="27980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who to reach first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29184" y="30358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Confidence, cluster size, hazard proximity.</a:t>
            </a:r>
            <a:endParaRPr lang="en-US" sz="1000" dirty="0"/>
          </a:p>
        </p:txBody>
      </p:sp>
      <p:pic>
        <p:nvPicPr>
          <p:cNvPr id="17" name="Image 1" descr="img/d6_path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401568"/>
            <a:ext cx="3703320" cy="2724912"/>
          </a:xfrm>
          <a:prstGeom prst="rect">
            <a:avLst/>
          </a:prstGeom>
        </p:spPr>
      </p:pic>
      <p:pic>
        <p:nvPicPr>
          <p:cNvPr id="18" name="Image 2" descr="img/d5_found_vs_t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15568"/>
            <a:ext cx="7406640" cy="39410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206240" y="5138928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Survivors found over time — median of 30 simulated missions, good prior.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4206240" y="539496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flight with the detector at our measured 0.824 recall. Adaptive covers 32% of the area against the grid's 56% — it finds more people, sooner, over less ground. Never flown on hardware.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54864"/>
            <a:ext cx="2249424" cy="10607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184" y="201168"/>
            <a:ext cx="1252728" cy="804672"/>
          </a:xfrm>
          <a:prstGeom prst="ellipse">
            <a:avLst/>
          </a:prstGeom>
          <a:solidFill>
            <a:srgbClr val="0A0910"/>
          </a:solidFill>
          <a:ln w="15875">
            <a:solidFill>
              <a:srgbClr val="FFC93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9184" y="502920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828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spc="-40" kern="0" dirty="0">
                <a:solidFill>
                  <a:srgbClr val="F4E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AND REFERENCES</a:t>
            </a:r>
            <a:endParaRPr lang="en-US" sz="29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40" kern="0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" y="1188720"/>
            <a:ext cx="1481328" cy="1371600"/>
          </a:xfrm>
          <a:prstGeom prst="hexagon">
            <a:avLst/>
          </a:prstGeom>
          <a:solidFill>
            <a:srgbClr val="15131C"/>
          </a:solidFill>
          <a:ln w="15240">
            <a:solidFill>
              <a:srgbClr val="F7871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8912" y="15544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20624" y="18288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disaster-scene humans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438912" y="261518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956816" y="1188720"/>
            <a:ext cx="1481328" cy="1371600"/>
          </a:xfrm>
          <a:prstGeom prst="hexagon">
            <a:avLst/>
          </a:prstGeom>
          <a:solidFill>
            <a:srgbClr val="15131C"/>
          </a:solidFill>
          <a:ln w="15240">
            <a:solidFill>
              <a:srgbClr val="F7871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066544" y="15544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VisDrone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048256" y="18288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aerial capture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2066544" y="261518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584448" y="1188720"/>
            <a:ext cx="1481328" cy="1371600"/>
          </a:xfrm>
          <a:prstGeom prst="hexagon">
            <a:avLst/>
          </a:prstGeom>
          <a:solidFill>
            <a:srgbClr val="15131C"/>
          </a:solidFill>
          <a:ln w="15240">
            <a:solidFill>
              <a:srgbClr val="F7871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94176" y="15544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AIDER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675888" y="18288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UAV hazard imagery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3694176" y="261518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212080" y="1188720"/>
            <a:ext cx="1481328" cy="1371600"/>
          </a:xfrm>
          <a:prstGeom prst="hexagon">
            <a:avLst/>
          </a:prstGeom>
          <a:solidFill>
            <a:srgbClr val="15131C"/>
          </a:solidFill>
          <a:ln w="15240">
            <a:solidFill>
              <a:srgbClr val="F7871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21808" y="15544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HIT-UAV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303520" y="18288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survivors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5321808" y="261518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839712" y="1188720"/>
            <a:ext cx="1481328" cy="1371600"/>
          </a:xfrm>
          <a:prstGeom prst="hexagon">
            <a:avLst/>
          </a:prstGeom>
          <a:solidFill>
            <a:srgbClr val="15131C"/>
          </a:solidFill>
          <a:ln w="15240">
            <a:solidFill>
              <a:srgbClr val="F7871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49440" y="15544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931152" y="18288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+ export</a:t>
            </a:r>
            <a:endParaRPr lang="en-US" sz="750" dirty="0"/>
          </a:p>
        </p:txBody>
      </p:sp>
      <p:sp>
        <p:nvSpPr>
          <p:cNvPr id="28" name="Text 25"/>
          <p:cNvSpPr txBox="1"/>
          <p:nvPr/>
        </p:nvSpPr>
        <p:spPr>
          <a:xfrm>
            <a:off x="6949440" y="261518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8467344" y="1188720"/>
            <a:ext cx="1481328" cy="1371600"/>
          </a:xfrm>
          <a:prstGeom prst="hexagon">
            <a:avLst/>
          </a:prstGeom>
          <a:solidFill>
            <a:srgbClr val="15131C"/>
          </a:solidFill>
          <a:ln w="15240">
            <a:solidFill>
              <a:srgbClr val="F7871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577072" y="15544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ByteTrack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558784" y="18288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double-counting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577072" y="261518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094976" y="1188720"/>
            <a:ext cx="1481328" cy="1371600"/>
          </a:xfrm>
          <a:prstGeom prst="hexagon">
            <a:avLst/>
          </a:prstGeom>
          <a:solidFill>
            <a:srgbClr val="15131C"/>
          </a:solidFill>
          <a:ln w="15240">
            <a:solidFill>
              <a:srgbClr val="F7871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204704" y="15544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Qualcomm AI Hub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186416" y="18288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benchmarking</a:t>
            </a:r>
            <a:endParaRPr lang="en-US" sz="750" dirty="0"/>
          </a:p>
        </p:txBody>
      </p:sp>
      <p:sp>
        <p:nvSpPr>
          <p:cNvPr id="36" name="Text 33"/>
          <p:cNvSpPr txBox="1"/>
          <p:nvPr/>
        </p:nvSpPr>
        <p:spPr>
          <a:xfrm>
            <a:off x="10204704" y="261518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29184" y="3108960"/>
            <a:ext cx="7223760" cy="3017520"/>
          </a:xfrm>
          <a:prstGeom prst="roundRect">
            <a:avLst>
              <a:gd name="adj" fmla="val 1818"/>
            </a:avLst>
          </a:prstGeom>
          <a:solidFill>
            <a:srgbClr val="1C1926"/>
          </a:solidFill>
          <a:ln w="12700">
            <a:solidFill>
              <a:srgbClr val="D93A26"/>
            </a:solidFill>
            <a:prstDash val="dash"/>
          </a:ln>
        </p:spPr>
      </p:sp>
      <p:sp>
        <p:nvSpPr>
          <p:cNvPr id="38" name="Text 35"/>
          <p:cNvSpPr txBox="1"/>
          <p:nvPr/>
        </p:nvSpPr>
        <p:spPr>
          <a:xfrm>
            <a:off x="512064" y="43068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3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P4 · INTERFACE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512064" y="4617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overlapping screenshots — dashboard, detections close-up, map.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818120" y="3108960"/>
            <a:ext cx="3886200" cy="3017520"/>
          </a:xfrm>
          <a:prstGeom prst="roundRect">
            <a:avLst>
              <a:gd name="adj" fmla="val 1818"/>
            </a:avLst>
          </a:prstGeom>
          <a:solidFill>
            <a:srgbClr val="15131C"/>
          </a:solidFill>
          <a:ln w="9525">
            <a:solidFill>
              <a:srgbClr val="2A253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001000" y="325526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BUILT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001000" y="35661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Detection, tracking, localization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10469880" y="35661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8001000" y="38404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scoring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10469880" y="38404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8001000" y="41148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dashboard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10469880" y="41148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8001000" y="43891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benchmark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10469880" y="43891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</a:t>
            </a:r>
            <a:endParaRPr lang="en-US" sz="800" dirty="0"/>
          </a:p>
        </p:txBody>
      </p:sp>
      <p:sp>
        <p:nvSpPr>
          <p:cNvPr id="50" name="Text 47"/>
          <p:cNvSpPr txBox="1"/>
          <p:nvPr/>
        </p:nvSpPr>
        <p:spPr>
          <a:xfrm>
            <a:off x="8001000" y="46634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detection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10469880" y="46634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C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8001000" y="49377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+ thermal fusion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10469880" y="49377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00" dirty="0"/>
          </a:p>
        </p:txBody>
      </p:sp>
      <p:sp>
        <p:nvSpPr>
          <p:cNvPr id="54" name="Text 51"/>
          <p:cNvSpPr txBox="1"/>
          <p:nvPr/>
        </p:nvSpPr>
        <p:spPr>
          <a:xfrm>
            <a:off x="8001000" y="5212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classification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10469880" y="52120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78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00" dirty="0"/>
          </a:p>
        </p:txBody>
      </p:sp>
      <p:sp>
        <p:nvSpPr>
          <p:cNvPr id="56" name="Text 53"/>
          <p:cNvSpPr txBox="1"/>
          <p:nvPr/>
        </p:nvSpPr>
        <p:spPr>
          <a:xfrm>
            <a:off x="8001000" y="54864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planner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10469880" y="54864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8001000" y="57607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GPS-denied SLAM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10469880" y="5760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ARES — SIH 2026 Idea Submission</dc:title>
  <dc:subject>PptxGenJS Presentation</dc:subject>
  <dc:creator>Dewang</dc:creator>
  <cp:lastModifiedBy>Dewang</cp:lastModifiedBy>
  <cp:revision>1</cp:revision>
  <dcterms:created xsi:type="dcterms:W3CDTF">2026-09-22T06:09:55Z</dcterms:created>
  <dcterms:modified xsi:type="dcterms:W3CDTF">2026-09-22T06:09:55Z</dcterms:modified>
</cp:coreProperties>
</file>