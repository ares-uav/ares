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7007"/>
  </p:normalViewPr>
  <p:slideViewPr>
    <p:cSldViewPr snapToGrid="0" snapToObjects="1">
      <p:cViewPr>
        <p:scale>
          <a:sx n="166" d="100"/>
          <a:sy n="166" d="100"/>
        </p:scale>
        <p:origin x="112" y="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Fill the six portal fields before exporting. Keep the SIH logo and title bar exactly as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dirty="0"/>
              <a:t>Open with the problem in one line: after a disaster, drones fly a fixed grid and give every patch of ground equal time, including empty ground. Our drone reads the scene while flying and re-plans in the air. The three numbers at the bottom are all measured, not estimated: 20 of 20 survivors found against 11 for a grid, 3.2 times faster to reach half of them, and 100 percent of the model's layers running on the drone's own NPU chip. 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dirty="0"/>
              <a:t>Walk the diagram left to right along the top: two cameras feed a fusion step, then tracking makes sure each person is counted once. Every box in the shaded band is on the aircraft - sensing, detection, tracking, localization, priority and the planner itself. The dark bar is the one data format all three of our sub-teams agreed on. Below it is the ground station, which also runs with no internet. The orange line is the important one - the decision loop closes on the drone, so it needs no link at all. What crosses the radio is a few hundred bytes of survivor records, not video. The dashboard receives results and sends no commands.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dirty="0"/>
              <a:t>Left column is what already works and is measured. Right column is honest about risk. The orange box is what we are still measuring - leave those brackets in only if the numbers are genuinely not ready on submission day; otherwise replace them. The dark strip is our scope table. Judges reward teams that say clearly what is built, what is partial and what is only simulated.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dirty="0"/>
              <a:t>The left chart is survivors found, the right is how long it took to reach half of them. Note the bottom row deliberately: with no useful prior information our method simply matches the grid - it never does worse. Showing that we tested the case where our own method has no advantage is what makes the other two rows believable.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dirty="0"/>
              <a:t>Everything here is a public dataset, an open tool or standard practice. Nothing is proprietary and nothing is bought. The dark strip explains how the numbers were produced, which is the question a technical screener asks first.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100" b="1">
                <a:solidFill>
                  <a:srgbClr val="0E6E7E"/>
                </a:solidFill>
                <a:latin typeface="Calibri"/>
              </a:rPr>
              <a:t>ARES  —  Autonomous Rescue &amp; Environmental Intelligence System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3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758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700" b="1" dirty="0">
                <a:solidFill>
                  <a:srgbClr val="12222A"/>
                </a:solidFill>
                <a:latin typeface="Calibri"/>
              </a:rPr>
              <a:t>Problem Statement ID -   </a:t>
            </a:r>
            <a:r>
              <a:rPr lang="en-US" sz="1700" b="1" dirty="0">
                <a:solidFill>
                  <a:srgbClr val="12222A"/>
                </a:solidFill>
                <a:latin typeface="Calibri"/>
              </a:rPr>
              <a:t>26177</a:t>
            </a:r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700" b="1" dirty="0">
                <a:solidFill>
                  <a:srgbClr val="12222A"/>
                </a:solidFill>
                <a:latin typeface="Calibri"/>
              </a:rPr>
              <a:t>Problem Statement Title -   </a:t>
            </a:r>
            <a:r>
              <a:rPr lang="en-IN" dirty="0"/>
              <a:t>A deployable AI-powered autonomous drone that aids search-and-rescue operations by detecting people and hazards, thereby improving responder safety and reducing victim discovery time.</a:t>
            </a:r>
            <a:endParaRPr sz="1700" b="1" dirty="0">
              <a:solidFill>
                <a:srgbClr val="12222A"/>
              </a:solidFill>
              <a:latin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700" b="1" dirty="0">
                <a:solidFill>
                  <a:srgbClr val="12222A"/>
                </a:solidFill>
                <a:latin typeface="Calibri"/>
              </a:rPr>
              <a:t>Theme -   </a:t>
            </a:r>
            <a:r>
              <a:rPr lang="en-US" sz="1700" b="1" dirty="0">
                <a:solidFill>
                  <a:srgbClr val="12222A"/>
                </a:solidFill>
                <a:latin typeface="Calibri"/>
              </a:rPr>
              <a:t>Robotics and Drones</a:t>
            </a:r>
            <a:endParaRPr sz="1700" b="1" dirty="0">
              <a:solidFill>
                <a:srgbClr val="12222A"/>
              </a:solidFill>
              <a:latin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700" b="1" dirty="0">
                <a:solidFill>
                  <a:srgbClr val="12222A"/>
                </a:solidFill>
                <a:latin typeface="Calibri"/>
              </a:rPr>
              <a:t>PS Category -  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700" b="1" dirty="0">
                <a:solidFill>
                  <a:srgbClr val="12222A"/>
                </a:solidFill>
                <a:latin typeface="Calibri"/>
              </a:rPr>
              <a:t>Team ID -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700" b="1" dirty="0">
                <a:solidFill>
                  <a:srgbClr val="12222A"/>
                </a:solidFill>
                <a:latin typeface="Calibri"/>
              </a:rPr>
              <a:t>Team Name -   </a:t>
            </a:r>
            <a:r>
              <a:rPr lang="en-US" sz="1700" b="1" dirty="0">
                <a:solidFill>
                  <a:srgbClr val="12222A"/>
                </a:solidFill>
                <a:latin typeface="Calibri"/>
              </a:rPr>
              <a:t>ARES</a:t>
            </a:r>
            <a:endParaRPr sz="1700" b="1" dirty="0">
              <a:solidFill>
                <a:srgbClr val="12222A"/>
              </a:solidFill>
              <a:latin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900" b="1" dirty="0">
                <a:solidFill>
                  <a:srgbClr val="1F497D"/>
                </a:solidFill>
                <a:latin typeface="Calibr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 DRONE THAT DECIDES WHERE TO LOOK NEXT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198506"/>
            <a:ext cx="1251857" cy="8073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9184" y="1060704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ED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TextBox 15362"/>
          <p:cNvSpPr txBox="1"/>
          <p:nvPr/>
        </p:nvSpPr>
        <p:spPr>
          <a:xfrm>
            <a:off x="512064" y="1170432"/>
            <a:ext cx="3255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222A"/>
                </a:solidFill>
                <a:latin typeface="Calibri"/>
              </a:rPr>
              <a:t>THE PROBLEM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12064" y="1499616"/>
            <a:ext cx="3255264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A fixed grid gives every square metre the same attention — including empty ground.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The battery runs out before the area is covered, and the survivor list arrives with no order of urgency.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33087" y="1060704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ED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TextBox 15365"/>
          <p:cNvSpPr txBox="1"/>
          <p:nvPr/>
        </p:nvSpPr>
        <p:spPr>
          <a:xfrm>
            <a:off x="4315968" y="1170432"/>
            <a:ext cx="3255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E6E7E"/>
                </a:solidFill>
                <a:latin typeface="Calibri"/>
              </a:rPr>
              <a:t>OUR SOLUTION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315968" y="1499616"/>
            <a:ext cx="3255264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While it flies, the drone builds a live probability map of where people are likely to be.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It re-plans in the air and always flies to the best ground it has not yet searched.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7936992" y="1060704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ED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TextBox 15368"/>
          <p:cNvSpPr txBox="1"/>
          <p:nvPr/>
        </p:nvSpPr>
        <p:spPr>
          <a:xfrm>
            <a:off x="8119871" y="1170432"/>
            <a:ext cx="3255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07B39"/>
                </a:solidFill>
                <a:latin typeface="Calibri"/>
              </a:rPr>
              <a:t>WHY IT IS DIFFERENT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119871" y="1499616"/>
            <a:ext cx="3255264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Priority-driven search that never performs worse than a fixed grid.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Detection, tracking and localization all run on the drone itself — no cloud, no mobile tower.</a:t>
            </a:r>
          </a:p>
        </p:txBody>
      </p:sp>
      <p:pic>
        <p:nvPicPr>
          <p:cNvPr id="15371" name="Picture 15370" descr="d1_syst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2724912"/>
            <a:ext cx="10058400" cy="2428848"/>
          </a:xfrm>
          <a:prstGeom prst="rect">
            <a:avLst/>
          </a:prstGeom>
        </p:spPr>
      </p:pic>
      <p:sp>
        <p:nvSpPr>
          <p:cNvPr id="15372" name="Rounded Rectangle 15371"/>
          <p:cNvSpPr/>
          <p:nvPr/>
        </p:nvSpPr>
        <p:spPr>
          <a:xfrm>
            <a:off x="329184" y="5614416"/>
            <a:ext cx="3602736" cy="658368"/>
          </a:xfrm>
          <a:prstGeom prst="roundRect">
            <a:avLst>
              <a:gd name="adj" fmla="val 8000"/>
            </a:avLst>
          </a:prstGeom>
          <a:solidFill>
            <a:srgbClr val="1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TextBox 15372"/>
          <p:cNvSpPr txBox="1"/>
          <p:nvPr/>
        </p:nvSpPr>
        <p:spPr>
          <a:xfrm>
            <a:off x="493776" y="568756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7A2B8"/>
                </a:solidFill>
                <a:latin typeface="Calibri"/>
              </a:rPr>
              <a:t>20 / 20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1792224" y="5687568"/>
            <a:ext cx="202996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C7D6DC"/>
                </a:solidFill>
                <a:latin typeface="Calibri"/>
              </a:rPr>
              <a:t>survivors found vs 11 / 20 for a fixed grid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133087" y="5614416"/>
            <a:ext cx="3602736" cy="658368"/>
          </a:xfrm>
          <a:prstGeom prst="roundRect">
            <a:avLst>
              <a:gd name="adj" fmla="val 8000"/>
            </a:avLst>
          </a:prstGeom>
          <a:solidFill>
            <a:srgbClr val="1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TextBox 15375"/>
          <p:cNvSpPr txBox="1"/>
          <p:nvPr/>
        </p:nvSpPr>
        <p:spPr>
          <a:xfrm>
            <a:off x="4297679" y="568756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7A2B8"/>
                </a:solidFill>
                <a:latin typeface="Calibri"/>
              </a:rPr>
              <a:t>3.2×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5596127" y="5687568"/>
            <a:ext cx="202996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C7D6DC"/>
                </a:solidFill>
                <a:latin typeface="Calibri"/>
              </a:rPr>
              <a:t>faster to reach half the survivors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7936992" y="5614416"/>
            <a:ext cx="3602736" cy="658368"/>
          </a:xfrm>
          <a:prstGeom prst="roundRect">
            <a:avLst>
              <a:gd name="adj" fmla="val 8000"/>
            </a:avLst>
          </a:prstGeom>
          <a:solidFill>
            <a:srgbClr val="1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9" name="TextBox 15378"/>
          <p:cNvSpPr txBox="1"/>
          <p:nvPr/>
        </p:nvSpPr>
        <p:spPr>
          <a:xfrm>
            <a:off x="8101583" y="568756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7A2B8"/>
                </a:solidFill>
                <a:latin typeface="Calibri"/>
              </a:rPr>
              <a:t>100 %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9400032" y="5687568"/>
            <a:ext cx="202996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C7D6DC"/>
                </a:solidFill>
                <a:latin typeface="Calibri"/>
              </a:rPr>
              <a:t>of model layers run on the drone's NPU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1F497D"/>
                </a:solidFill>
                <a:latin typeface="Calibr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024128"/>
            <a:ext cx="11539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E6E7E"/>
                </a:solidFill>
                <a:latin typeface="Calibri"/>
              </a:rPr>
              <a:t>YOLOv12s + YOLOv8s   ·   BoT-SORT tracking   ·   ONNX → INT8 on the Hexagon NPU   ·   FastAPI + Pydantic   ·   React + Leaflet   ·   ArduPilot / MAVLink</a:t>
            </a:r>
          </a:p>
        </p:txBody>
      </p:sp>
      <p:pic>
        <p:nvPicPr>
          <p:cNvPr id="17411" name="Picture 17410" descr="d2_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1481328"/>
            <a:ext cx="7242048" cy="3031815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882127" y="1481328"/>
            <a:ext cx="3986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E6E7E"/>
                </a:solidFill>
                <a:latin typeface="Calibri"/>
              </a:rPr>
              <a:t>THE COMMAND DASHBOARD — RUNNING, NOT A MOCKUP</a:t>
            </a:r>
          </a:p>
        </p:txBody>
      </p:sp>
      <p:pic>
        <p:nvPicPr>
          <p:cNvPr id="17413" name="Picture 17412" descr="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7" y="1755648"/>
            <a:ext cx="3986784" cy="2242566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7882127" y="4059936"/>
            <a:ext cx="3986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40" b="0">
                <a:solidFill>
                  <a:srgbClr val="12222A"/>
                </a:solidFill>
                <a:latin typeface="Calibri"/>
              </a:rPr>
              <a:t>• Every count reconciles across all four panels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2222A"/>
                </a:solidFill>
                <a:latin typeface="Calibri"/>
              </a:rPr>
              <a:t>• Keeps running with the backend switched off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9184" y="4956048"/>
            <a:ext cx="11539728" cy="1078992"/>
          </a:xfrm>
          <a:prstGeom prst="roundRect">
            <a:avLst>
              <a:gd name="adj" fmla="val 8000"/>
            </a:avLst>
          </a:prstGeom>
          <a:solidFill>
            <a:srgbClr val="1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40080" y="4956048"/>
            <a:ext cx="10917936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7A2B8"/>
                </a:solidFill>
                <a:latin typeface="Calibri"/>
              </a:rPr>
              <a:t>Everything that decides anything runs on the aircraft.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7D6DC"/>
                </a:solidFill>
                <a:latin typeface="Calibri"/>
              </a:rPr>
              <a:t>The ground station is where people look — not where choices are made.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1F497D"/>
                </a:solidFill>
                <a:latin typeface="Calibr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060704"/>
            <a:ext cx="5541264" cy="3017520"/>
          </a:xfrm>
          <a:prstGeom prst="roundRect">
            <a:avLst>
              <a:gd name="adj" fmla="val 8000"/>
            </a:avLst>
          </a:prstGeom>
          <a:solidFill>
            <a:srgbClr val="ED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30352" y="1188720"/>
            <a:ext cx="5138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E6E7E"/>
                </a:solidFill>
                <a:latin typeface="Calibri"/>
              </a:rPr>
              <a:t>BUILT AND MEASURED TODAY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530352" y="1517904"/>
            <a:ext cx="91440" cy="36576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731520" y="1517904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2222A"/>
                </a:solidFill>
                <a:latin typeface="Calibri"/>
              </a:rPr>
              <a:t>Survivor detection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B7C85"/>
                </a:solidFill>
                <a:latin typeface="Calibri"/>
              </a:rPr>
              <a:t>YOLOv12s · recall 0.824 over 86,092 labelled people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30352" y="1933955"/>
            <a:ext cx="91440" cy="36576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1933955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2222A"/>
                </a:solidFill>
                <a:latin typeface="Calibri"/>
              </a:rPr>
              <a:t>Thermal detection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B7C85"/>
                </a:solidFill>
                <a:latin typeface="Calibri"/>
              </a:rPr>
              <a:t>YOLOv8s · recall 0.883 · works at night and in smoke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530352" y="2350008"/>
            <a:ext cx="91440" cy="36576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731520" y="235000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2222A"/>
                </a:solidFill>
                <a:latin typeface="Calibri"/>
              </a:rPr>
              <a:t>Runs on real edge silicon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B7C85"/>
                </a:solidFill>
                <a:latin typeface="Calibri"/>
              </a:rPr>
              <a:t>209 ms/frame · 489 of 489 layers on the Hexagon NPU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530352" y="2766060"/>
            <a:ext cx="91440" cy="36576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731520" y="2766060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2222A"/>
                </a:solidFill>
                <a:latin typeface="Calibri"/>
              </a:rPr>
              <a:t>Counts each person once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B7C85"/>
                </a:solidFill>
                <a:latin typeface="Calibri"/>
              </a:rPr>
              <a:t>7,081 detections → 333 tracks → 23 confirmed survivors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530352" y="3182112"/>
            <a:ext cx="91440" cy="36576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731520" y="3182112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2222A"/>
                </a:solidFill>
                <a:latin typeface="Calibri"/>
              </a:rPr>
              <a:t>Adaptive 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B7C85"/>
                </a:solidFill>
                <a:latin typeface="Calibri"/>
              </a:rPr>
              <a:t>100 simulated missions · 20/20 found · 3.2× faster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530352" y="3598164"/>
            <a:ext cx="91440" cy="36576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731520" y="3598164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2222A"/>
                </a:solidFill>
                <a:latin typeface="Calibri"/>
              </a:rPr>
              <a:t>Command dashboard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B7C85"/>
                </a:solidFill>
                <a:latin typeface="Calibri"/>
              </a:rPr>
              <a:t>live map, ranked queue, event log · runs fully offline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053328" y="1060704"/>
            <a:ext cx="5815584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6254496" y="1170432"/>
            <a:ext cx="5413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07B39"/>
                </a:solidFill>
                <a:latin typeface="Calibri"/>
              </a:rPr>
              <a:t>RISKS, AND HOW WE HANDLE THEM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254496" y="1481328"/>
            <a:ext cx="54132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2222A"/>
                </a:solidFill>
                <a:latin typeface="Calibri"/>
              </a:rPr>
              <a:t>• Venue has no internet → map tiles cached locally; dashboard runs from a file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254496" y="1787652"/>
            <a:ext cx="54132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2222A"/>
                </a:solidFill>
                <a:latin typeface="Calibri"/>
              </a:rPr>
              <a:t>• Live inference could fail on stage → the demo replays genuine pre-computed model output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254496" y="2093976"/>
            <a:ext cx="54132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2222A"/>
                </a:solidFill>
                <a:latin typeface="Calibri"/>
              </a:rPr>
              <a:t>• No public dataset pairs aerial RGB with thermal → we measure fusion on the LLVIP benchmark and say so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254496" y="2400300"/>
            <a:ext cx="54132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2222A"/>
                </a:solidFill>
                <a:latin typeface="Calibri"/>
              </a:rPr>
              <a:t>• Small edge compute budget → YOLOv8n fallback already trained and benchmarked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053328" y="2871216"/>
            <a:ext cx="5815584" cy="1207008"/>
          </a:xfrm>
          <a:prstGeom prst="roundRect">
            <a:avLst>
              <a:gd name="adj" fmla="val 8000"/>
            </a:avLst>
          </a:prstGeom>
          <a:solidFill>
            <a:srgbClr val="FBEDE2"/>
          </a:solidFill>
          <a:ln w="15875">
            <a:solidFill>
              <a:srgbClr val="E07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6254496" y="2962656"/>
            <a:ext cx="5413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E07B39"/>
                </a:solidFill>
                <a:latin typeface="Calibri"/>
              </a:rPr>
              <a:t>IN PROGRESS — NUMBERS TO ADD BEFORE SUBMISSION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254496" y="3273552"/>
            <a:ext cx="54132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2222A"/>
                </a:solidFill>
                <a:latin typeface="Calibri"/>
              </a:rPr>
              <a:t>• Hazard classifier (fire/smoke, flood, collapsed structure):  [ per-class precision &amp; recall — pending 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2222A"/>
                </a:solidFill>
                <a:latin typeface="Calibri"/>
              </a:rPr>
              <a:t>• RGB + thermal fusion on LLVIP:  [ false positives at equal recall — pending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2222A"/>
                </a:solidFill>
                <a:latin typeface="Calibri"/>
              </a:rPr>
              <a:t>• INT8 accuracy after quantisation:  [ pending ]     ·     Closed-loop flight sim:  [ localization error — pending ]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29184" y="4206240"/>
            <a:ext cx="11539728" cy="1975104"/>
          </a:xfrm>
          <a:prstGeom prst="roundRect">
            <a:avLst>
              <a:gd name="adj" fmla="val 8000"/>
            </a:avLst>
          </a:prstGeom>
          <a:solidFill>
            <a:srgbClr val="1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566928" y="433425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7A2B8"/>
                </a:solidFill>
                <a:latin typeface="Calibri"/>
              </a:rPr>
              <a:t>SCOPE — WHAT IS BUILT AND WHAT IS DESCRIBED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66928" y="47000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7A2B8"/>
                </a:solidFill>
                <a:latin typeface="Calibri"/>
              </a:rPr>
              <a:t>Built · measured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2743200" y="4700016"/>
            <a:ext cx="8887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C7D6DC"/>
                </a:solidFill>
                <a:latin typeface="Calibri"/>
              </a:rPr>
              <a:t>On-device inference · Priority alerting · Command dashboard · Geo-tagged mapping · Offline resilience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66928" y="5138927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5C66B"/>
                </a:solidFill>
                <a:latin typeface="Calibri"/>
              </a:rPr>
              <a:t>Partial · honest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2743200" y="5138927"/>
            <a:ext cx="8887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C7D6DC"/>
                </a:solidFill>
                <a:latin typeface="Calibri"/>
              </a:rPr>
              <a:t>Multi-sensor fusion (RGB + thermal + IMU + GPS) · Hazard classification, 3 classes of 7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66928" y="55778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89A62"/>
                </a:solidFill>
                <a:latin typeface="Calibri"/>
              </a:rPr>
              <a:t>Simulated · not flown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2743200" y="5577840"/>
            <a:ext cx="8887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C7D6DC"/>
                </a:solidFill>
                <a:latin typeface="Calibri"/>
              </a:rPr>
              <a:t>Adaptive search planning · Autonomous navigation — flown on a simulated flight stack, never on hardware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566928" y="5888736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8FA3AB"/>
                </a:solidFill>
                <a:latin typeface="Calibri"/>
              </a:rPr>
              <a:t>We claim only what we measured. Nothing on this slide is estimated.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1F497D"/>
                </a:solidFill>
                <a:latin typeface="Calibr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d3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060704"/>
            <a:ext cx="10863072" cy="2408025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58368" y="3310128"/>
            <a:ext cx="108630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C85"/>
                </a:solidFill>
                <a:latin typeface="Calibri"/>
              </a:rPr>
              <a:t>Median of 100 simulated missions · identical worlds, identical battery, identical detection probability (0.824, measured on 86,092 labelled people)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3639312"/>
            <a:ext cx="7242048" cy="2542032"/>
          </a:xfrm>
          <a:prstGeom prst="roundRect">
            <a:avLst>
              <a:gd name="adj" fmla="val 8000"/>
            </a:avLst>
          </a:prstGeom>
          <a:solidFill>
            <a:srgbClr val="ED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530352" y="3767328"/>
            <a:ext cx="68397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E6E7E"/>
                </a:solidFill>
                <a:latin typeface="Calibri"/>
              </a:rPr>
              <a:t>THE PRIOR — WHAT THE DRONE BELIEVES BEFORE IT FLIES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30352" y="4096512"/>
            <a:ext cx="68397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2222A"/>
                </a:solidFill>
                <a:latin typeface="Calibri"/>
              </a:rPr>
              <a:t>A map of where people are most likely to be — the drone's starting belief. The three rows above are three qualities of it: good, mediocre, and none at all.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30352" y="4626864"/>
            <a:ext cx="6839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07B39"/>
                </a:solidFill>
                <a:latin typeface="Calibri"/>
              </a:rPr>
              <a:t>IN THE FIELD IT IS ASSEMBLED FROM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30352" y="4882896"/>
            <a:ext cx="331012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2222A"/>
                </a:solidFill>
                <a:latin typeface="Calibri"/>
              </a:rPr>
              <a:t>• OpenStreetMap — buildings, shelters, schools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2222A"/>
                </a:solidFill>
                <a:latin typeface="Calibri"/>
              </a:rPr>
              <a:t>• Elevation model — high ground in a flood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059936" y="4882896"/>
            <a:ext cx="331012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2222A"/>
                </a:solidFill>
                <a:latin typeface="Calibri"/>
              </a:rPr>
              <a:t>• Sentinel-1 radar — flood extent, through cloud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2222A"/>
                </a:solidFill>
                <a:latin typeface="Calibri"/>
              </a:rPr>
              <a:t>• Emergency calls and last-known positions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30352" y="5614416"/>
            <a:ext cx="68397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6B7C85"/>
                </a:solidFill>
                <a:latin typeface="Calibri"/>
              </a:rPr>
              <a:t>Quality is reported as correlation with the truth — 0.65, 0.38 and −0.01 above — never as a number we chose. Today the prior is synthetic; sourcing it from live data is the next step.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827264" y="3639312"/>
            <a:ext cx="4041648" cy="2542032"/>
          </a:xfrm>
          <a:prstGeom prst="roundRect">
            <a:avLst>
              <a:gd name="adj" fmla="val 8000"/>
            </a:avLst>
          </a:prstGeom>
          <a:solidFill>
            <a:srgbClr val="ED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8028431" y="3767328"/>
            <a:ext cx="3639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E6E7E"/>
                </a:solidFill>
                <a:latin typeface="Calibri"/>
              </a:rPr>
              <a:t>IMPACT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028431" y="4096512"/>
            <a:ext cx="3639312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12222A"/>
                </a:solidFill>
                <a:latin typeface="Calibri"/>
              </a:rPr>
              <a:t>• Survivors reached sooner inside the 72-hour window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12222A"/>
                </a:solidFill>
                <a:latin typeface="Calibri"/>
              </a:rPr>
              <a:t>• A ranked rescue queue, not an unsorted list of dots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12222A"/>
                </a:solidFill>
                <a:latin typeface="Calibri"/>
              </a:rPr>
              <a:t>• Works with no network, no cloud and no mobile tower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12222A"/>
                </a:solidFill>
                <a:latin typeface="Calibri"/>
              </a:rPr>
              <a:t>• A commodity drone plus one edge board — affordable for a state response force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1F497D"/>
                </a:solidFill>
                <a:latin typeface="Calibr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060704"/>
            <a:ext cx="3602736" cy="3749039"/>
          </a:xfrm>
          <a:prstGeom prst="roundRect">
            <a:avLst>
              <a:gd name="adj" fmla="val 8000"/>
            </a:avLst>
          </a:prstGeom>
          <a:solidFill>
            <a:srgbClr val="ED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12064" y="1188720"/>
            <a:ext cx="32552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E6E7E"/>
                </a:solidFill>
                <a:latin typeface="Calibri"/>
              </a:rPr>
              <a:t>DATASETS USED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12064" y="1554480"/>
            <a:ext cx="3255264" cy="3035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C2A — casualty detection in disaster scenes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VisDrone — UAV person detection benchmark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HIT-UAV — real UAV thermal infrared imagery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AIResQ — aerial thermal rescue dataset (Sci Data, 2026)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AIDER — UAV disaster-scene classification (hazards)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LLVIP — registered visible/infrared pairs, for fusion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COCO — pre-training baseline for both detectors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OpenStreetMap — offline base map tiles for the dashboard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33087" y="1060704"/>
            <a:ext cx="3602736" cy="3749039"/>
          </a:xfrm>
          <a:prstGeom prst="roundRect">
            <a:avLst>
              <a:gd name="adj" fmla="val 8000"/>
            </a:avLst>
          </a:prstGeom>
          <a:solidFill>
            <a:srgbClr val="ED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4315968" y="1188720"/>
            <a:ext cx="32552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E6E7E"/>
                </a:solidFill>
                <a:latin typeface="Calibri"/>
              </a:rPr>
              <a:t>MODELS, TOOLS, HARDWARE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15968" y="1554480"/>
            <a:ext cx="3255264" cy="3035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Ultralytics YOLOv12s / YOLOv8s — detection + tracking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BoT-SORT — multi-object tracking with re-identification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Qualcomm AI Hub — Dragonwing RB3 Gen 2, IQ-9075 EVK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ONNX + QNN — INT8 quantisation for the Hexagon NPU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ArduPilot / MAVLink — flight stack and waypoints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FastAPI · Pydantic · React · Leaflet · Vite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PyTorch + ONNX Runtime — training and export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Docker — reproducible flight-simulation environment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936992" y="1060704"/>
            <a:ext cx="3602736" cy="3749039"/>
          </a:xfrm>
          <a:prstGeom prst="roundRect">
            <a:avLst>
              <a:gd name="adj" fmla="val 8000"/>
            </a:avLst>
          </a:prstGeom>
          <a:solidFill>
            <a:srgbClr val="ED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8119871" y="1188720"/>
            <a:ext cx="32552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E6E7E"/>
                </a:solidFill>
                <a:latin typeface="Calibri"/>
              </a:rPr>
              <a:t>METHOD AND BACKGROUND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119871" y="1554480"/>
            <a:ext cx="3255264" cy="3035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Bayesian search theory — belief update over a grid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Boustrophedon (lawnmower) coverage — our baseline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Informative-path planning for UAV search and rescue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NDRF / NDMA search-and-rescue operating guidance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DGCA nano-category UAV rules (sub-250 g operation)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Bayesian belief update with a staleness term — our
     coverage guarantee: skipped cells resurface later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Tracking metrics: ID switches and fragmentation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2222A"/>
                </a:solidFill>
                <a:latin typeface="Calibri"/>
              </a:rPr>
              <a:t>• [ add your faculty mentor's suggested references ]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9184" y="4956048"/>
            <a:ext cx="11539728" cy="1188720"/>
          </a:xfrm>
          <a:prstGeom prst="roundRect">
            <a:avLst>
              <a:gd name="adj" fmla="val 8000"/>
            </a:avLst>
          </a:prstGeom>
          <a:solidFill>
            <a:srgbClr val="1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566928" y="508406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7A2B8"/>
                </a:solidFill>
                <a:latin typeface="Calibri"/>
              </a:rPr>
              <a:t>HOW OUR NUMBERS WERE PRODUCED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66928" y="54132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C7D6DC"/>
                </a:solidFill>
                <a:latin typeface="Calibri"/>
              </a:rPr>
              <a:t>Accuracy is measured on a held-out split of 2,591 images and 86,092 labelled people. Latency is measured on real Qualcomm silicon through AI Hub — medians of ~100 runs, not best-case.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60" b="0">
                <a:solidFill>
                  <a:srgbClr val="C7D6DC"/>
                </a:solidFill>
                <a:latin typeface="Calibri"/>
              </a:rPr>
              <a:t>Search results are medians of 100 simulated missions with identical worlds and identical battery. Demo footage is from public UAV datasets; every detection shown is genuine model output.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7A2B8"/>
                </a:solidFill>
                <a:latin typeface="Calibri"/>
              </a:rPr>
              <a:t>Demo video:  [ paste the public link here before exporting to PDF ]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7535</TotalTime>
  <Words>1586</Words>
  <Application>Microsoft Macintosh PowerPoint</Application>
  <PresentationFormat>Widescreen</PresentationFormat>
  <Paragraphs>131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 DRONE THAT DECIDES WHERE TO LOOK NEXT 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Dewang Dhakad</cp:lastModifiedBy>
  <cp:revision>150</cp:revision>
  <dcterms:created xsi:type="dcterms:W3CDTF">2013-12-12T18:46:50Z</dcterms:created>
  <dcterms:modified xsi:type="dcterms:W3CDTF">2026-09-18T09:27:19Z</dcterms:modified>
  <cp:category/>
</cp:coreProperties>
</file>