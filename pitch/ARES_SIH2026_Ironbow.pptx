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6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spc="-150" kern="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7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214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Rescue &amp; Environmental Intelligence System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054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drone that decides where to look next.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1272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from portal 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57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529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exact wording from portal 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59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Disaster Management / Robotics &amp; Drones 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61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3342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64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4736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from portal 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166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5138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as registered 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457200"/>
            <a:ext cx="3383280" cy="5943600"/>
          </a:xfrm>
          <a:prstGeom prst="roundRect">
            <a:avLst>
              <a:gd name="adj" fmla="val 1622"/>
            </a:avLst>
          </a:prstGeom>
          <a:solidFill>
            <a:srgbClr val="3B1049"/>
          </a:solidFill>
          <a:ln w="12700">
            <a:solidFill>
              <a:srgbClr val="D93A2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503920" y="3136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 · IMAGE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447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disaster scene.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Darken 55%.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caption.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· Autonomous Rescue &amp; Environmental Intelligence System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74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4160520"/>
          </a:xfrm>
          <a:prstGeom prst="roundRect">
            <a:avLst>
              <a:gd name="adj" fmla="val 1714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7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IDEA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37360"/>
            <a:ext cx="27980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an earthquake or flood, the first hours decide who survives. Search teams fly fixed patterns — a lawnmower grid that treats every square metre as equally likely to hold someone. It is not.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insert one sourced survival-rate figure ]. Time over empty ground is time taken from ground that holds someone.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UAV that treats search as a decision, not coverage. Onboard AI finds survivors, ranks them, and re-plans its own path in the air — with the radio switched off.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a decision problem,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coverage problem.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417320"/>
            <a:ext cx="4480560" cy="3611880"/>
          </a:xfrm>
          <a:prstGeom prst="roundRect">
            <a:avLst>
              <a:gd name="adj" fmla="val 1519"/>
            </a:avLst>
          </a:prstGeom>
          <a:solidFill>
            <a:srgbClr val="15131C"/>
          </a:solidFill>
          <a:ln w="12700">
            <a:solidFill>
              <a:srgbClr val="2A25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AIRCRAFT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18774" y="2389163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3628" y="3145536"/>
            <a:ext cx="0" cy="32918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6418774" y="3980219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5135906" y="3980219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4797892" y="3145536"/>
            <a:ext cx="0" cy="32918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135906" y="2389163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58968" y="205740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58968" y="214884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41836" y="2587752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1836" y="267919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41836" y="3648456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1836" y="37398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58968" y="4178808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58968" y="427024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76100" y="3648456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76100" y="37398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76100" y="2587752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76100" y="267919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3035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s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364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cycle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5029200"/>
            <a:ext cx="0" cy="475488"/>
          </a:xfrm>
          <a:prstGeom prst="line">
            <a:avLst/>
          </a:prstGeom>
          <a:noFill/>
          <a:ln w="12700">
            <a:solidFill>
              <a:srgbClr val="9A93A8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92040" y="550468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5614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STATION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59618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 records · a few hundred bytes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595360" y="1188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→  ARES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95360" y="1517904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32520" y="16093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grid — every metre treated alike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49840" y="2212848"/>
            <a:ext cx="0" cy="182880"/>
          </a:xfrm>
          <a:prstGeom prst="line">
            <a:avLst/>
          </a:prstGeom>
          <a:noFill/>
          <a:ln w="190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595360" y="2432304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2A2109"/>
          </a:solidFill>
          <a:ln w="12700">
            <a:solidFill>
              <a:srgbClr val="FFC9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32520" y="25237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ordered by where survivors are likely to be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95360" y="3145536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32520" y="32369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person counted many times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149840" y="3840480"/>
            <a:ext cx="0" cy="182880"/>
          </a:xfrm>
          <a:prstGeom prst="line">
            <a:avLst/>
          </a:prstGeom>
          <a:noFill/>
          <a:ln w="190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595360" y="4059936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2A2109"/>
          </a:solidFill>
          <a:ln w="12700">
            <a:solidFill>
              <a:srgbClr val="FFC9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32520" y="41513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IDs — 7,081 detections become 23 people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95360" y="4773168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32520" y="48646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network the disaster destroyed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49840" y="5468112"/>
            <a:ext cx="0" cy="182880"/>
          </a:xfrm>
          <a:prstGeom prst="line">
            <a:avLst/>
          </a:prstGeom>
          <a:noFill/>
          <a:ln w="190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595360" y="5687568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2A2109"/>
          </a:solidFill>
          <a:ln w="12700">
            <a:solidFill>
              <a:srgbClr val="FFC9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5779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onboard — 2.7 KB replaces 3 Mbps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· Autonomous Rescue &amp; Environmental Intelligence System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0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74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3703320"/>
          </a:xfrm>
          <a:prstGeom prst="roundRect">
            <a:avLst>
              <a:gd name="adj" fmla="val 1714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16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 BECOMES ONE DECISION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3B1049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19072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15668" y="178308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video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226771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8E1F4B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32257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7,081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238658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0" y="2871216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7871F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2926080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61388" y="299008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03020" y="347472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FFC93D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2748" y="3529584"/>
            <a:ext cx="678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981962" y="3593592"/>
            <a:ext cx="6446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485900" y="407822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0C2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95628" y="4133088"/>
            <a:ext cx="51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000250" y="4197096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is the argument: we do not double-count.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118872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05072" y="1307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COMPUTERS, ONE AIRFRAME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23360" y="160934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1C1926"/>
          </a:solidFill>
          <a:ln w="12700">
            <a:solidFill>
              <a:srgbClr val="2A25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0" y="1700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1938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· failsafe · RTH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160934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80760" y="1700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(RB3)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1938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+ planner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safe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20665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 MAVLink  ►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2688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companion board fails, the aircraft still flies home.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0" y="310896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1C1926"/>
          </a:solidFill>
          <a:ln w="12700">
            <a:solidFill>
              <a:srgbClr val="D93A26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4023360" y="37078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 · DASHBOARD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40187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screen capture — map,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 and counts visible.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1188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1517904"/>
            <a:ext cx="32918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40496" y="1572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540496" y="17647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· single person class · C2A + VisDrone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412480" y="2093976"/>
            <a:ext cx="32918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40496" y="21488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540496" y="23408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 — persistent IDs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412480" y="2670048"/>
            <a:ext cx="32918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40496" y="2724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540496" y="29169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RB3 Gen 2 · INT8 on NPU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12480" y="3246120"/>
            <a:ext cx="32918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40496" y="33009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540496" y="3493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412480" y="3822192"/>
            <a:ext cx="32918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40496" y="38770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540496" y="40690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Vite · Tailwind · Leaflet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412480" y="4398264"/>
            <a:ext cx="32918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40496" y="44531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Downlink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540496" y="46451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865–868 MHz — licence-exempt in India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51389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BUDGET · ONE FRAME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5413248"/>
            <a:ext cx="11247120" cy="457200"/>
          </a:xfrm>
          <a:prstGeom prst="rect">
            <a:avLst/>
          </a:prstGeom>
          <a:solidFill>
            <a:srgbClr val="FFC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5413248"/>
            <a:ext cx="11146536" cy="457200"/>
          </a:xfrm>
          <a:prstGeom prst="rect">
            <a:avLst/>
          </a:prstGeom>
          <a:solidFill>
            <a:srgbClr val="F787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3504" y="5522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 209.5 ms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596188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makes ARES adaptive — localization, priority, the planner — costs 0.87% of the frame.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· Autonomous Rescue &amp; Environmental Intelligence System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11155680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DEFEND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74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38728" cy="3703320"/>
          </a:xfrm>
          <a:prstGeom prst="roundRect">
            <a:avLst>
              <a:gd name="adj" fmla="val 1550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716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7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37360"/>
            <a:ext cx="31363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C2A and VisDrone for survivors, AIDER for hazards.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hardware: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Qualcomm dev board and an off-the-shelf airframe.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assumed: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benchmarked on the board, not a datasheet.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paid services: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tiles, no API keys, nothing that expires.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33672" y="1188720"/>
            <a:ext cx="3538728" cy="3703320"/>
          </a:xfrm>
          <a:prstGeom prst="roundRect">
            <a:avLst>
              <a:gd name="adj" fmla="val 1550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7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VIABILITY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737360"/>
            <a:ext cx="31363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where infrastructure is gone: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towers fall in exactly these conditions.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to carry: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records instead of video — 136× less data.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Airframe-independent: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contribution is software.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transparent weighted formula, not a black box.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10144" y="1188720"/>
            <a:ext cx="3538728" cy="3703320"/>
          </a:xfrm>
          <a:prstGeom prst="roundRect">
            <a:avLst>
              <a:gd name="adj" fmla="val 1550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3716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RISKS WE NAME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1737360"/>
            <a:ext cx="31363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is simulated: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flown. 30 simulated missions, labelled.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FP32, device is INT8: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quantisation cost unmeasured.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and heat unmeasured: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benchmark is not a 20-minute sortie.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Footage borrowed: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detections are our model's real output.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1755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at our operating threshold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51755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 FPS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device, INT8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5230368"/>
            <a:ext cx="0" cy="841248"/>
          </a:xfrm>
          <a:prstGeom prst="line">
            <a:avLst/>
          </a:prstGeom>
          <a:noFill/>
          <a:ln w="12700">
            <a:solidFill>
              <a:srgbClr val="2A25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9904" y="51755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089904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survivors from 7,081 detections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98464" y="5230368"/>
            <a:ext cx="0" cy="841248"/>
          </a:xfrm>
          <a:prstGeom prst="line">
            <a:avLst/>
          </a:prstGeom>
          <a:noFill/>
          <a:ln w="12700">
            <a:solidFill>
              <a:srgbClr val="2A25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06256" y="51755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 KB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8906256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mission downlink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14816" y="5230368"/>
            <a:ext cx="0" cy="841248"/>
          </a:xfrm>
          <a:prstGeom prst="line">
            <a:avLst/>
          </a:prstGeom>
          <a:noFill/>
          <a:ln w="12700">
            <a:solidFill>
              <a:srgbClr val="2A25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· Autonomous Rescue &amp; Environmental Intelligence System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IN SIMULATION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74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more people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20 survivors against a lawnmower grid's 10.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00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them sooner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385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survivors reached 3.1× faster.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network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871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mission report is 2.7 KB.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98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who to reach first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358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cluster size, hazard proximity.</a:t>
            </a:r>
            <a:endParaRPr lang="en-US" sz="1000" dirty="0"/>
          </a:p>
        </p:txBody>
      </p:sp>
      <p:pic>
        <p:nvPicPr>
          <p:cNvPr id="13" name="Image 0" descr="img/d6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401568"/>
            <a:ext cx="3703320" cy="2724912"/>
          </a:xfrm>
          <a:prstGeom prst="rect">
            <a:avLst/>
          </a:prstGeom>
        </p:spPr>
      </p:pic>
      <p:pic>
        <p:nvPicPr>
          <p:cNvPr id="14" name="Image 1" descr="img/d5_found_vs_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15568"/>
            <a:ext cx="7406640" cy="39410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97680" y="513892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found over time — median of 30 simulated missions, good prior.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53949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flight with the detector at our measured 0.824 recall. Adaptive covers 32% of the area against the grid's 56% — it finds more people, sooner, over less ground. Never flown on hardware.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· Autonomous Rescue &amp; Environmental Intelligence System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155680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74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463040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disaster-scene humans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61972" y="1188720"/>
            <a:ext cx="1463040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7170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VisDrone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5341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aerial capture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17170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66744" y="1188720"/>
            <a:ext cx="1463040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76472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58184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hazard imagery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776472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71516" y="1188720"/>
            <a:ext cx="1463040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81244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62956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export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381244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76288" y="1188720"/>
            <a:ext cx="1463040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86016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double-counting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986016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81060" y="1188720"/>
            <a:ext cx="1463040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078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7250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benchmarking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59078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85832" y="1188720"/>
            <a:ext cx="1463040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9556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WPC 865–868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17727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licence-exempt band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7223760" cy="3017520"/>
          </a:xfrm>
          <a:prstGeom prst="roundRect">
            <a:avLst>
              <a:gd name="adj" fmla="val 1818"/>
            </a:avLst>
          </a:prstGeom>
          <a:solidFill>
            <a:srgbClr val="1C1926"/>
          </a:solidFill>
          <a:ln w="12700">
            <a:solidFill>
              <a:srgbClr val="D93A26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40080" y="4325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P4 · INTERFACE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636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overlapping screenshots — dashboard, detections close-up, map.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3108960"/>
            <a:ext cx="3749040" cy="3017520"/>
          </a:xfrm>
          <a:prstGeom prst="roundRect">
            <a:avLst>
              <a:gd name="adj" fmla="val 1818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3816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138160" y="3584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tracking, localization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0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scoring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0" y="3886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4187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dashboard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0" y="4187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8138160" y="4489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515600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0" y="47914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thermal fusion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0" y="4791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138160" y="5093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classification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0" y="5093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8138160" y="5394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515600" y="5394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138160" y="5696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SLAM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0515600" y="5696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· Autonomous Rescue &amp; Environmental Intelligence System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155680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— SIH 2026 Idea Submission</dc:title>
  <dc:subject>PptxGenJS Presentation</dc:subject>
  <dc:creator>Dewang</dc:creator>
  <cp:lastModifiedBy>Dewang</cp:lastModifiedBy>
  <cp:revision>1</cp:revision>
  <dcterms:created xsi:type="dcterms:W3CDTF">2026-09-22T05:54:05Z</dcterms:created>
  <dcterms:modified xsi:type="dcterms:W3CDTF">2026-09-22T05:54:05Z</dcterms:modified>
</cp:coreProperties>
</file>