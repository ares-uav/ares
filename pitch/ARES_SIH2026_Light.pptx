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6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86384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-150" kern="0" dirty="0">
                <a:solidFill>
                  <a:srgbClr val="9A5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ARES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019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Rescue &amp; Environmental Intelligence System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494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drone that decides where to look next.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284378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26177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009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326440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deployable AI-powered autonomous drone that aids search-and-rescue operations by detecting people and hazards, thereby improving responder safety and reducing victim discovery time.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433425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and Drones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91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47548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212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51755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2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from portal ]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632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1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55961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732520" y="1325880"/>
            <a:ext cx="2971800" cy="4800600"/>
          </a:xfrm>
          <a:prstGeom prst="roundRect">
            <a:avLst>
              <a:gd name="adj" fmla="val 1846"/>
            </a:avLst>
          </a:prstGeom>
          <a:solidFill>
            <a:srgbClr val="F3EFEF"/>
          </a:solidFill>
          <a:ln w="12700">
            <a:solidFill>
              <a:srgbClr val="C2301C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915400" y="34152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3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· IMAGE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37261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disaster scene.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Darken 55%.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54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200400" cy="4069080"/>
          </a:xfrm>
          <a:prstGeom prst="roundRect">
            <a:avLst>
              <a:gd name="adj" fmla="val 1714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1737360"/>
            <a:ext cx="27980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— a lawnmower grid that treats every square metre as equally likely to hold someone. It is not.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insert one sourced survival-rate figure ]. Time over empty ground is time taken from ground that holds someone.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— with the radio switched off.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29184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a decision problem,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coverage problem.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1371600"/>
            <a:ext cx="4480560" cy="3611880"/>
          </a:xfrm>
          <a:prstGeom prst="roundRect">
            <a:avLst>
              <a:gd name="adj" fmla="val 1519"/>
            </a:avLst>
          </a:prstGeom>
          <a:solidFill>
            <a:srgbClr val="F7F5F3"/>
          </a:solidFill>
          <a:ln w="12700">
            <a:solidFill>
              <a:srgbClr val="D9D4D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620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AIRCRAFT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27334" y="2343443"/>
            <a:ext cx="606840" cy="25087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72188" y="3099816"/>
            <a:ext cx="0" cy="32918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6327334" y="3934499"/>
            <a:ext cx="606840" cy="25087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5044466" y="3934499"/>
            <a:ext cx="606840" cy="25087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4706452" y="3099816"/>
            <a:ext cx="0" cy="32918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5044466" y="2343443"/>
            <a:ext cx="606840" cy="250874"/>
          </a:xfrm>
          <a:prstGeom prst="line">
            <a:avLst/>
          </a:prstGeom>
          <a:noFill/>
          <a:ln w="317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367528" y="2011680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67528" y="210312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50396" y="254203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50396" y="263347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50396" y="360273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50396" y="369417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67528" y="4133088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67528" y="4224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84660" y="3602736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84660" y="369417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084660" y="2542032"/>
            <a:ext cx="1243584" cy="384048"/>
          </a:xfrm>
          <a:prstGeom prst="roundRect">
            <a:avLst>
              <a:gd name="adj" fmla="val 14286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084660" y="263347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2990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319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cycle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89320" y="4983480"/>
            <a:ext cx="0" cy="457200"/>
          </a:xfrm>
          <a:prstGeom prst="line">
            <a:avLst/>
          </a:prstGeom>
          <a:noFill/>
          <a:ln w="12700">
            <a:solidFill>
              <a:srgbClr val="6B6478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800600" y="544068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EFECEA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00600" y="5550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STATION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749040" y="58978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 records · a few hundred bytes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8458200" y="11887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→  ARES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458200" y="151790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EFECEA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95360" y="1609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grid — every metre treated alike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076688" y="2212848"/>
            <a:ext cx="0" cy="182880"/>
          </a:xfrm>
          <a:prstGeom prst="line">
            <a:avLst/>
          </a:prstGeom>
          <a:noFill/>
          <a:ln w="190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458200" y="243230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FF3D4"/>
          </a:solidFill>
          <a:ln w="12700">
            <a:solidFill>
              <a:srgbClr val="9A540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95360" y="25237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ordered by where survivors are likely to be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458200" y="3145536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EFECEA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95360" y="32369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person counted many times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076688" y="3840480"/>
            <a:ext cx="0" cy="182880"/>
          </a:xfrm>
          <a:prstGeom prst="line">
            <a:avLst/>
          </a:prstGeom>
          <a:noFill/>
          <a:ln w="190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8458200" y="4059936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FF3D4"/>
          </a:solidFill>
          <a:ln w="12700">
            <a:solidFill>
              <a:srgbClr val="9A540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95360" y="41513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IDs — 7,081 detections become 23 people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458200" y="4773168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EFECEA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595360" y="48646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network the disaster destroyed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076688" y="5468112"/>
            <a:ext cx="0" cy="182880"/>
          </a:xfrm>
          <a:prstGeom prst="line">
            <a:avLst/>
          </a:prstGeom>
          <a:noFill/>
          <a:ln w="19050">
            <a:solidFill>
              <a:srgbClr val="B85A0B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8458200" y="5687568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FF3D4"/>
          </a:solidFill>
          <a:ln w="12700">
            <a:solidFill>
              <a:srgbClr val="9A540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595360" y="5779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onboard — 2.7 KB replaces 3 Mbps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54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200400" cy="3703320"/>
          </a:xfrm>
          <a:prstGeom prst="roundRect">
            <a:avLst>
              <a:gd name="adj" fmla="val 1714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" y="1316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 BECOMES ONE DECISION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12064" y="1664208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3B1049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719072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87652" y="178308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C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video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0664" y="226771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8E1F4B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0392" y="232257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7,081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810512" y="23865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C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69264" y="2871216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B85A0B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78992" y="292608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33372" y="299008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C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75004" y="347472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C93D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84732" y="3529584"/>
            <a:ext cx="67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853946" y="3593592"/>
            <a:ext cx="6446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357884" y="407822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E9A8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67612" y="4133088"/>
            <a:ext cx="514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872234" y="419709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3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93776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is the argument: we do not double-count.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13632" y="1307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COMPUTERS, ONE AIRFRAME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93192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EFECEA"/>
          </a:solidFill>
          <a:ln w="12700">
            <a:solidFill>
              <a:srgbClr val="D9D4D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2336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02336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· failsafe · RTH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897880" y="1609344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EFECEA"/>
          </a:solidFill>
          <a:ln w="12700">
            <a:solidFill>
              <a:srgbClr val="B85A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17007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(RB3)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5989320" y="19385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+ planner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safe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20665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 MAVLink  ►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3931920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companion board fails, the aircraft still flies home.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749040" y="310896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F3EFEF"/>
          </a:solidFill>
          <a:ln w="12700">
            <a:solidFill>
              <a:srgbClr val="C2301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3931920" y="36896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3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· DASHBOARD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931920" y="40005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screen capture — map,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 and counts visible.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18388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183880" y="1517904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11896" y="1572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311896" y="17647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· single person class · C2A + VisDrone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183880" y="2093976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11896" y="21488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311896" y="23408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 · recall 0.883 · night and smoke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83880" y="2670048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1189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311896" y="29169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— persistent IDs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183880" y="3246120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11896" y="33009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compute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8311896" y="34930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RB3 Gen 2 · INT8 on NPU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8183880" y="3822192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311896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Frontend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8311896" y="40690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React · Leaflet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8183880" y="4398264"/>
            <a:ext cx="3520440" cy="493776"/>
          </a:xfrm>
          <a:prstGeom prst="roundRect">
            <a:avLst>
              <a:gd name="adj" fmla="val 11111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311896" y="44531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8311896" y="4645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865–868 MHz — licence-exempt in India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329184" y="5102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BUDGET · ONE FRAME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29184" y="5376672"/>
            <a:ext cx="11375136" cy="457200"/>
          </a:xfrm>
          <a:prstGeom prst="rect">
            <a:avLst/>
          </a:prstGeom>
          <a:solidFill>
            <a:srgbClr val="FFC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9184" y="5376672"/>
            <a:ext cx="11274552" cy="457200"/>
          </a:xfrm>
          <a:prstGeom prst="rect">
            <a:avLst/>
          </a:prstGeom>
          <a:solidFill>
            <a:srgbClr val="B85A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75488" y="5486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 209.5 ms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329184" y="5907024"/>
            <a:ext cx="11375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makes ARES adaptive — localization, priority, the planner — costs 0.87% of the frame.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54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DEFEND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C2A and VisDrone for survivors, AIDER for hazards.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hardware: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Qualcomm dev board and an off-the-shelf airframe.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assumed: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benchmarked on the board, not a datasheet.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services: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tiles, no API keys, nothing that expires.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61688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VIABILITY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361688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where infrastructure is gone: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towers fall in exactly these conditions.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carry: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records instead of video — 136× less data.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Airframe-independent: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contribution is software.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transparent weighted formula, not a black box.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1188720"/>
            <a:ext cx="3611880" cy="3703320"/>
          </a:xfrm>
          <a:prstGeom prst="roundRect">
            <a:avLst>
              <a:gd name="adj" fmla="val 1519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1371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3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WE NAME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1737360"/>
            <a:ext cx="320954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is simulated: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flown. 30 simulated missions, labelled.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FP32, device is INT8: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quantisation cost unmeasured.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and heat unmeasured: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benchmark is not a 20-minute sortie.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Footage borrowed:</a:t>
            </a:r>
            <a:pPr indent="0" marL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detections are our model's real output.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A5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0.824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recall at conf 0.18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182112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A5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0.883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3182112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recall, night and smoke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90672" y="5193792"/>
            <a:ext cx="0" cy="841248"/>
          </a:xfrm>
          <a:prstGeom prst="line">
            <a:avLst/>
          </a:prstGeom>
          <a:noFill/>
          <a:ln w="12700">
            <a:solidFill>
              <a:srgbClr val="D9D4D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A5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FPS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device, INT8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0" y="5193792"/>
            <a:ext cx="0" cy="841248"/>
          </a:xfrm>
          <a:prstGeom prst="line">
            <a:avLst/>
          </a:prstGeom>
          <a:noFill/>
          <a:ln w="12700">
            <a:solidFill>
              <a:srgbClr val="D9D4D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87968" y="5138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A5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 KB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8887968" y="5705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mission downlink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796528" y="5193792"/>
            <a:ext cx="0" cy="841248"/>
          </a:xfrm>
          <a:prstGeom prst="line">
            <a:avLst/>
          </a:prstGeom>
          <a:noFill/>
          <a:ln w="12700">
            <a:solidFill>
              <a:srgbClr val="D9D4D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54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IN SIMULATION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29184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9184" y="13898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10.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1700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9184" y="1938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" y="2487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" y="2798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" y="30358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pic>
        <p:nvPicPr>
          <p:cNvPr id="17" name="Image 1" descr="img/d6_paths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01568"/>
            <a:ext cx="3703320" cy="2724912"/>
          </a:xfrm>
          <a:prstGeom prst="rect">
            <a:avLst/>
          </a:prstGeom>
        </p:spPr>
      </p:pic>
      <p:pic>
        <p:nvPicPr>
          <p:cNvPr id="18" name="Image 2" descr="img/d5_found_vs_time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15568"/>
            <a:ext cx="7406640" cy="3941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06240" y="51389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30 simulated missions, good prior.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206240" y="5394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flight with the detector at our measured 0.824 recall. Adaptive covers 32% of the area against the grid's 56% — it finds more people, sooner, over less ground. Never flown on hardware.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4864"/>
            <a:ext cx="2249424" cy="10607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201168"/>
            <a:ext cx="1252728" cy="8046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54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50292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2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spc="-40" kern="0" dirty="0">
                <a:solidFill>
                  <a:srgbClr val="1A17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38912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56816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66544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48256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2066544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584448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94176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675888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3694176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12080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21808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HIT-UAV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survivors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5321808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39712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0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467344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77072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558784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577072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094976" y="1188720"/>
            <a:ext cx="1481328" cy="1371600"/>
          </a:xfrm>
          <a:prstGeom prst="hexagon">
            <a:avLst/>
          </a:prstGeom>
          <a:solidFill>
            <a:srgbClr val="F7F5F3"/>
          </a:solidFill>
          <a:ln w="15240">
            <a:solidFill>
              <a:srgbClr val="B85A0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204704" y="1554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186416" y="18288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10204704" y="26151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9184" y="3108960"/>
            <a:ext cx="7223760" cy="3017520"/>
          </a:xfrm>
          <a:prstGeom prst="roundRect">
            <a:avLst>
              <a:gd name="adj" fmla="val 1818"/>
            </a:avLst>
          </a:prstGeom>
          <a:solidFill>
            <a:srgbClr val="F3EFEF"/>
          </a:solidFill>
          <a:ln w="12700">
            <a:solidFill>
              <a:srgbClr val="C2301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12064" y="4306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3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 · INTERFACE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12064" y="4617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overlapping screenshots — dashboard, detections close-up, map.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818120" y="3108960"/>
            <a:ext cx="3886200" cy="3017520"/>
          </a:xfrm>
          <a:prstGeom prst="roundRect">
            <a:avLst>
              <a:gd name="adj" fmla="val 1818"/>
            </a:avLst>
          </a:prstGeom>
          <a:solidFill>
            <a:srgbClr val="F7F5F3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01000" y="3255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001000" y="3566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469880" y="3566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8001000" y="3840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0469880" y="38404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8001000" y="4114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0469880" y="41148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8001000" y="4389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0469880" y="43891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8001000" y="4663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detection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0469880" y="46634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5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8001000" y="4937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0469880" y="4937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8001000" y="5212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10469880" y="5212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8001000" y="5486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10469880" y="54864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001000" y="57607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0469880" y="5760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— SIH 2026 Idea Submission</dc:title>
  <dc:subject>PptxGenJS Presentation</dc:subject>
  <dc:creator>Dewang</dc:creator>
  <cp:lastModifiedBy>Dewang</cp:lastModifiedBy>
  <cp:revision>1</cp:revision>
  <dcterms:created xsi:type="dcterms:W3CDTF">2026-09-22T06:09:55Z</dcterms:created>
  <dcterms:modified xsi:type="dcterms:W3CDTF">2026-09-22T06:09:55Z</dcterms:modified>
</cp:coreProperties>
</file>